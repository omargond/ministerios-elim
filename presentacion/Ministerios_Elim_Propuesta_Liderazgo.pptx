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12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111111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>
              <a:alpha val="70000"/>
            </a:srgbClr>
          </a:solidFill>
          <a:ln w="6350">
            <a:solidFill>
              <a:srgbClr val="111111"/>
            </a:solidFill>
          </a:ln>
        </p:spPr>
      </p:sp>
      <p:sp>
        <p:nvSpPr>
          <p:cNvPr id="5" name="Objeto editable 5"/>
          <p:cNvSpPr/>
          <p:nvPr/>
        </p:nvSpPr>
        <p:spPr>
          <a:xfrm>
            <a:off x="0" y="0"/>
            <a:ext cx="5219949" cy="6858000"/>
          </a:xfrm>
          <a:prstGeom prst="rect">
            <a:avLst/>
          </a:prstGeom>
          <a:solidFill>
            <a:srgbClr val="111111">
              <a:alpha val="92000"/>
            </a:srgbClr>
          </a:solidFill>
          <a:ln w="6350">
            <a:solidFill>
              <a:srgbClr val="111111"/>
            </a:solidFill>
          </a:ln>
        </p:spPr>
      </p:sp>
      <p:pic>
        <p:nvPicPr>
          <p:cNvPr id="6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412750"/>
            <a:ext cx="736600" cy="5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Objeto editable 7"/>
          <p:cNvSpPr txBox="1"/>
          <p:nvPr/>
        </p:nvSpPr>
        <p:spPr>
          <a:xfrm>
            <a:off x="647994" y="1584000"/>
            <a:ext cx="4967951" cy="15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400" b="1">
                <a:solidFill>
                  <a:srgbClr val="FFFFFF"/>
                </a:solidFill>
                <a:latin typeface="Liberation Serif"/>
              </a:rPr>
              <a:t>UNA PLATAFORMA</a:t>
            </a:r>
            <a:endParaRPr lang="es-PE" sz="2400"/>
          </a:p>
          <a:p>
            <a:pPr algn="l"/>
            <a:r>
              <a:rPr lang="es-PE" sz="2400" b="1">
                <a:solidFill>
                  <a:srgbClr val="FFFFFF"/>
                </a:solidFill>
                <a:latin typeface="Liberation Serif"/>
              </a:rPr>
              <a:t>DIGITAL PARA</a:t>
            </a:r>
            <a:endParaRPr lang="es-PE" sz="2400"/>
          </a:p>
          <a:p>
            <a:pPr algn="l"/>
            <a:r>
              <a:rPr lang="es-PE" sz="2400" b="1">
                <a:solidFill>
                  <a:srgbClr val="FFFFFF"/>
                </a:solidFill>
                <a:latin typeface="Liberation Serif"/>
              </a:rPr>
              <a:t>FORMAR, CONECTAR</a:t>
            </a:r>
            <a:endParaRPr lang="es-PE" sz="2400"/>
          </a:p>
          <a:p>
            <a:pPr algn="l"/>
            <a:r>
              <a:rPr lang="es-PE" sz="2400" b="1">
                <a:solidFill>
                  <a:srgbClr val="FFFFFF"/>
                </a:solidFill>
                <a:latin typeface="Liberation Serif"/>
              </a:rPr>
              <a:t>Y SERVIR</a:t>
            </a:r>
            <a:endParaRPr lang="es-PE" sz="2400"/>
          </a:p>
        </p:txBody>
      </p:sp>
      <p:sp>
        <p:nvSpPr>
          <p:cNvPr id="8" name="Objeto editable 8"/>
          <p:cNvSpPr/>
          <p:nvPr/>
        </p:nvSpPr>
        <p:spPr>
          <a:xfrm>
            <a:off x="647994" y="3240000"/>
            <a:ext cx="1511985" cy="360"/>
          </a:xfrm>
          <a:prstGeom prst="line">
            <a:avLst/>
          </a:prstGeom>
          <a:noFill/>
          <a:ln w="43200">
            <a:solidFill>
              <a:srgbClr val="C5A059"/>
            </a:solidFill>
          </a:ln>
        </p:spPr>
      </p:sp>
      <p:sp>
        <p:nvSpPr>
          <p:cNvPr id="9" name="Objeto editable 9"/>
          <p:cNvSpPr txBox="1"/>
          <p:nvPr/>
        </p:nvSpPr>
        <p:spPr>
          <a:xfrm>
            <a:off x="647994" y="3438000"/>
            <a:ext cx="4499956" cy="54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600" b="1">
                <a:solidFill>
                  <a:srgbClr val="E7D7AA"/>
                </a:solidFill>
                <a:latin typeface="Liberation Sans"/>
              </a:rPr>
              <a:t>Propuesta para el liderazgo de Ministerios Elim</a:t>
            </a:r>
            <a:endParaRPr lang="es-PE" sz="1600"/>
          </a:p>
        </p:txBody>
      </p:sp>
      <p:sp>
        <p:nvSpPr>
          <p:cNvPr id="10" name="Objeto editable 10"/>
          <p:cNvSpPr txBox="1"/>
          <p:nvPr/>
        </p:nvSpPr>
        <p:spPr>
          <a:xfrm>
            <a:off x="647994" y="4032000"/>
            <a:ext cx="4319957" cy="46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>
                <a:solidFill>
                  <a:srgbClr val="FFFFFF"/>
                </a:solidFill>
                <a:latin typeface="Liberation Sans"/>
              </a:rPr>
              <a:t>Prototipo funcional · Red de iglesias · Formación doctrinal · Comunidad</a:t>
            </a:r>
            <a:endParaRPr lang="es-PE" sz="1100"/>
          </a:p>
        </p:txBody>
      </p:sp>
      <p:sp>
        <p:nvSpPr>
          <p:cNvPr id="11" name="Objeto editable 11"/>
          <p:cNvSpPr txBox="1"/>
          <p:nvPr/>
        </p:nvSpPr>
        <p:spPr>
          <a:xfrm>
            <a:off x="647994" y="6336000"/>
            <a:ext cx="3239968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>
                <a:solidFill>
                  <a:srgbClr val="FFFFFF"/>
                </a:solidFill>
                <a:latin typeface="Liberation Sans"/>
              </a:rPr>
              <a:t>14 de octubre de 2026</a:t>
            </a:r>
            <a:endParaRPr lang="es-PE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F7F3EA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6D6A64"/>
                </a:solidFill>
                <a:latin typeface="Liberation Sans"/>
              </a:rPr>
              <a:t>2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TESIS EJECUTIVA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242424"/>
                </a:solidFill>
                <a:latin typeface="Liberation Serif"/>
              </a:rPr>
              <a:t>De sitio informativo a plataforma ministerial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sp>
        <p:nvSpPr>
          <p:cNvPr id="8" name="Objeto editable 8"/>
          <p:cNvSpPr txBox="1"/>
          <p:nvPr/>
        </p:nvSpPr>
        <p:spPr>
          <a:xfrm>
            <a:off x="575994" y="1548000"/>
            <a:ext cx="4859952" cy="158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100" b="1">
                <a:solidFill>
                  <a:srgbClr val="242424"/>
                </a:solidFill>
                <a:latin typeface="Liberation Serif"/>
              </a:rPr>
              <a:t>El sitio actual representa muy bien a la congregación de Los Ángeles. El prototipo amplía esa presencia hacia una plataforma que puede servir a toda la red.</a:t>
            </a:r>
            <a:endParaRPr lang="es-PE" sz="2100"/>
          </a:p>
        </p:txBody>
      </p:sp>
      <p:sp>
        <p:nvSpPr>
          <p:cNvPr id="9" name="Objeto editable 9"/>
          <p:cNvSpPr txBox="1"/>
          <p:nvPr/>
        </p:nvSpPr>
        <p:spPr>
          <a:xfrm>
            <a:off x="575994" y="3312000"/>
            <a:ext cx="4751953" cy="111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>
                <a:solidFill>
                  <a:srgbClr val="6D6A64"/>
                </a:solidFill>
                <a:latin typeface="Liberation Sans"/>
              </a:rPr>
              <a:t>La propuesta conserva identidad, predicación, horarios y conexión; añade estructura doctrinal, perfiles, permisos, directorio vivo, materiales, eventos y participación.</a:t>
            </a:r>
            <a:endParaRPr lang="es-PE" sz="1300"/>
          </a:p>
        </p:txBody>
      </p:sp>
      <p:sp>
        <p:nvSpPr>
          <p:cNvPr id="10" name="Objeto editable 10"/>
          <p:cNvSpPr/>
          <p:nvPr/>
        </p:nvSpPr>
        <p:spPr>
          <a:xfrm>
            <a:off x="6155939" y="1512000"/>
            <a:ext cx="5039950" cy="828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11" name="Objeto editable 11"/>
          <p:cNvSpPr txBox="1"/>
          <p:nvPr/>
        </p:nvSpPr>
        <p:spPr>
          <a:xfrm>
            <a:off x="6407937" y="1656000"/>
            <a:ext cx="575994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900" b="1">
                <a:solidFill>
                  <a:srgbClr val="87C45B"/>
                </a:solidFill>
                <a:latin typeface="Liberation Sans"/>
              </a:rPr>
              <a:t>01</a:t>
            </a:r>
            <a:endParaRPr lang="es-PE" sz="1900"/>
          </a:p>
        </p:txBody>
      </p:sp>
      <p:sp>
        <p:nvSpPr>
          <p:cNvPr id="12" name="Objeto editable 12"/>
          <p:cNvSpPr txBox="1"/>
          <p:nvPr/>
        </p:nvSpPr>
        <p:spPr>
          <a:xfrm>
            <a:off x="7127930" y="1638000"/>
            <a:ext cx="1295987" cy="25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600" b="1">
                <a:solidFill>
                  <a:srgbClr val="242424"/>
                </a:solidFill>
                <a:latin typeface="Liberation Sans"/>
              </a:rPr>
              <a:t>Formar</a:t>
            </a:r>
            <a:endParaRPr lang="es-PE" sz="1600"/>
          </a:p>
        </p:txBody>
      </p:sp>
      <p:sp>
        <p:nvSpPr>
          <p:cNvPr id="13" name="Objeto editable 13"/>
          <p:cNvSpPr txBox="1"/>
          <p:nvPr/>
        </p:nvSpPr>
        <p:spPr>
          <a:xfrm>
            <a:off x="8423917" y="1663200"/>
            <a:ext cx="2483976" cy="37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Rutas de doctrina y recursos reutilizables</a:t>
            </a:r>
            <a:endParaRPr lang="es-PE" sz="1050"/>
          </a:p>
        </p:txBody>
      </p:sp>
      <p:sp>
        <p:nvSpPr>
          <p:cNvPr id="14" name="Objeto editable 14"/>
          <p:cNvSpPr/>
          <p:nvPr/>
        </p:nvSpPr>
        <p:spPr>
          <a:xfrm>
            <a:off x="6155939" y="2592000"/>
            <a:ext cx="5039950" cy="828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15" name="Objeto editable 15"/>
          <p:cNvSpPr txBox="1"/>
          <p:nvPr/>
        </p:nvSpPr>
        <p:spPr>
          <a:xfrm>
            <a:off x="6407937" y="2736000"/>
            <a:ext cx="575994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900" b="1">
                <a:solidFill>
                  <a:srgbClr val="36BBD3"/>
                </a:solidFill>
                <a:latin typeface="Liberation Sans"/>
              </a:rPr>
              <a:t>02</a:t>
            </a:r>
            <a:endParaRPr lang="es-PE" sz="1900"/>
          </a:p>
        </p:txBody>
      </p:sp>
      <p:sp>
        <p:nvSpPr>
          <p:cNvPr id="16" name="Objeto editable 16"/>
          <p:cNvSpPr txBox="1"/>
          <p:nvPr/>
        </p:nvSpPr>
        <p:spPr>
          <a:xfrm>
            <a:off x="7127930" y="2718000"/>
            <a:ext cx="1295987" cy="25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600" b="1">
                <a:solidFill>
                  <a:srgbClr val="242424"/>
                </a:solidFill>
                <a:latin typeface="Liberation Sans"/>
              </a:rPr>
              <a:t>Conectar</a:t>
            </a:r>
            <a:endParaRPr lang="es-PE" sz="1600"/>
          </a:p>
        </p:txBody>
      </p:sp>
      <p:sp>
        <p:nvSpPr>
          <p:cNvPr id="17" name="Objeto editable 17"/>
          <p:cNvSpPr txBox="1"/>
          <p:nvPr/>
        </p:nvSpPr>
        <p:spPr>
          <a:xfrm>
            <a:off x="8423917" y="2743200"/>
            <a:ext cx="2483976" cy="37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Iglesias, pastores, miembros y visitantes</a:t>
            </a:r>
            <a:endParaRPr lang="es-PE" sz="1050"/>
          </a:p>
        </p:txBody>
      </p:sp>
      <p:sp>
        <p:nvSpPr>
          <p:cNvPr id="18" name="Objeto editable 18"/>
          <p:cNvSpPr/>
          <p:nvPr/>
        </p:nvSpPr>
        <p:spPr>
          <a:xfrm>
            <a:off x="6155939" y="3672000"/>
            <a:ext cx="5039950" cy="828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19" name="Objeto editable 19"/>
          <p:cNvSpPr txBox="1"/>
          <p:nvPr/>
        </p:nvSpPr>
        <p:spPr>
          <a:xfrm>
            <a:off x="6407937" y="3816000"/>
            <a:ext cx="575994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900" b="1">
                <a:solidFill>
                  <a:srgbClr val="C5A059"/>
                </a:solidFill>
                <a:latin typeface="Liberation Sans"/>
              </a:rPr>
              <a:t>03</a:t>
            </a:r>
            <a:endParaRPr lang="es-PE" sz="1900"/>
          </a:p>
        </p:txBody>
      </p:sp>
      <p:sp>
        <p:nvSpPr>
          <p:cNvPr id="20" name="Objeto editable 20"/>
          <p:cNvSpPr txBox="1"/>
          <p:nvPr/>
        </p:nvSpPr>
        <p:spPr>
          <a:xfrm>
            <a:off x="7127930" y="3798000"/>
            <a:ext cx="1295987" cy="25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600" b="1">
                <a:solidFill>
                  <a:srgbClr val="242424"/>
                </a:solidFill>
                <a:latin typeface="Liberation Sans"/>
              </a:rPr>
              <a:t>Gobernar</a:t>
            </a:r>
            <a:endParaRPr lang="es-PE" sz="1600"/>
          </a:p>
        </p:txBody>
      </p:sp>
      <p:sp>
        <p:nvSpPr>
          <p:cNvPr id="21" name="Objeto editable 21"/>
          <p:cNvSpPr txBox="1"/>
          <p:nvPr/>
        </p:nvSpPr>
        <p:spPr>
          <a:xfrm>
            <a:off x="8423917" y="3823200"/>
            <a:ext cx="2483976" cy="37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Roles claros y publicación con permisos</a:t>
            </a:r>
            <a:endParaRPr lang="es-PE" sz="1050"/>
          </a:p>
        </p:txBody>
      </p:sp>
      <p:sp>
        <p:nvSpPr>
          <p:cNvPr id="22" name="Objeto editable 22"/>
          <p:cNvSpPr/>
          <p:nvPr/>
        </p:nvSpPr>
        <p:spPr>
          <a:xfrm>
            <a:off x="6155939" y="4752000"/>
            <a:ext cx="5039950" cy="828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3" name="Objeto editable 23"/>
          <p:cNvSpPr txBox="1"/>
          <p:nvPr/>
        </p:nvSpPr>
        <p:spPr>
          <a:xfrm>
            <a:off x="6407937" y="4896000"/>
            <a:ext cx="575994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900" b="1">
                <a:solidFill>
                  <a:srgbClr val="A94A43"/>
                </a:solidFill>
                <a:latin typeface="Liberation Sans"/>
              </a:rPr>
              <a:t>04</a:t>
            </a:r>
            <a:endParaRPr lang="es-PE" sz="1900"/>
          </a:p>
        </p:txBody>
      </p:sp>
      <p:sp>
        <p:nvSpPr>
          <p:cNvPr id="24" name="Objeto editable 24"/>
          <p:cNvSpPr txBox="1"/>
          <p:nvPr/>
        </p:nvSpPr>
        <p:spPr>
          <a:xfrm>
            <a:off x="7127930" y="4878000"/>
            <a:ext cx="1295987" cy="25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600" b="1">
                <a:solidFill>
                  <a:srgbClr val="242424"/>
                </a:solidFill>
                <a:latin typeface="Liberation Sans"/>
              </a:rPr>
              <a:t>Escalar</a:t>
            </a:r>
            <a:endParaRPr lang="es-PE" sz="1600"/>
          </a:p>
        </p:txBody>
      </p:sp>
      <p:sp>
        <p:nvSpPr>
          <p:cNvPr id="25" name="Objeto editable 25"/>
          <p:cNvSpPr txBox="1"/>
          <p:nvPr/>
        </p:nvSpPr>
        <p:spPr>
          <a:xfrm>
            <a:off x="8423917" y="4903200"/>
            <a:ext cx="2483976" cy="37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Una base común para múltiples ciudades y países</a:t>
            </a:r>
            <a:endParaRPr lang="es-PE" sz="1050"/>
          </a:p>
        </p:txBody>
      </p:sp>
      <p:sp>
        <p:nvSpPr>
          <p:cNvPr id="26" name="Objeto editable 26"/>
          <p:cNvSpPr txBox="1"/>
          <p:nvPr/>
        </p:nvSpPr>
        <p:spPr>
          <a:xfrm>
            <a:off x="575994" y="6534000"/>
            <a:ext cx="10439897" cy="14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50" i="1">
                <a:solidFill>
                  <a:srgbClr val="6D6A64"/>
                </a:solidFill>
                <a:latin typeface="Liberation Sans"/>
              </a:rPr>
              <a:t>Comparación de alcances distintos: congregación local actual vs. plataforma propuesta para la red.</a:t>
            </a:r>
            <a:endParaRPr lang="es-PE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F7F3EA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6D6A64"/>
                </a:solidFill>
                <a:latin typeface="Liberation Sans"/>
              </a:rPr>
              <a:t>3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RECORRIDO VISUAL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242424"/>
                </a:solidFill>
                <a:latin typeface="Liberation Serif"/>
              </a:rPr>
              <a:t>Una portada que explica quiénes somos y qué hacer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sp>
        <p:nvSpPr>
          <p:cNvPr id="8" name="Objeto editable 8"/>
          <p:cNvSpPr/>
          <p:nvPr/>
        </p:nvSpPr>
        <p:spPr>
          <a:xfrm>
            <a:off x="431996" y="1548000"/>
            <a:ext cx="8135920" cy="457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D4D0C8"/>
            </a:solidFill>
          </a:ln>
        </p:spPr>
      </p:sp>
      <p:sp>
        <p:nvSpPr>
          <p:cNvPr id="9" name="Objeto editable 9"/>
          <p:cNvSpPr/>
          <p:nvPr/>
        </p:nvSpPr>
        <p:spPr>
          <a:xfrm>
            <a:off x="431996" y="1548000"/>
            <a:ext cx="8135920" cy="378000"/>
          </a:xfrm>
          <a:prstGeom prst="roundRect">
            <a:avLst/>
          </a:prstGeom>
          <a:solidFill>
            <a:srgbClr val="262626">
              <a:alpha val="100000"/>
            </a:srgbClr>
          </a:solidFill>
          <a:ln w="6350">
            <a:solidFill>
              <a:srgbClr val="262626"/>
            </a:solidFill>
          </a:ln>
        </p:spPr>
      </p:sp>
      <p:sp>
        <p:nvSpPr>
          <p:cNvPr id="10" name="Objeto editable 10"/>
          <p:cNvSpPr/>
          <p:nvPr/>
        </p:nvSpPr>
        <p:spPr>
          <a:xfrm>
            <a:off x="575994" y="1677600"/>
            <a:ext cx="75599" cy="75600"/>
          </a:xfrm>
          <a:prstGeom prst="roundRect">
            <a:avLst/>
          </a:prstGeom>
          <a:solidFill>
            <a:srgbClr val="E36B62">
              <a:alpha val="100000"/>
            </a:srgbClr>
          </a:solidFill>
          <a:ln w="6350">
            <a:solidFill>
              <a:srgbClr val="E36B62"/>
            </a:solidFill>
          </a:ln>
        </p:spPr>
      </p:sp>
      <p:sp>
        <p:nvSpPr>
          <p:cNvPr id="11" name="Objeto editable 11"/>
          <p:cNvSpPr/>
          <p:nvPr/>
        </p:nvSpPr>
        <p:spPr>
          <a:xfrm>
            <a:off x="727193" y="1677600"/>
            <a:ext cx="75599" cy="75600"/>
          </a:xfrm>
          <a:prstGeom prst="roundRect">
            <a:avLst/>
          </a:prstGeom>
          <a:solidFill>
            <a:srgbClr val="E8BD55">
              <a:alpha val="100000"/>
            </a:srgbClr>
          </a:solidFill>
          <a:ln w="6350">
            <a:solidFill>
              <a:srgbClr val="E8BD55"/>
            </a:solidFill>
          </a:ln>
        </p:spPr>
      </p:sp>
      <p:sp>
        <p:nvSpPr>
          <p:cNvPr id="12" name="Objeto editable 12"/>
          <p:cNvSpPr/>
          <p:nvPr/>
        </p:nvSpPr>
        <p:spPr>
          <a:xfrm>
            <a:off x="878391" y="1677600"/>
            <a:ext cx="75599" cy="75600"/>
          </a:xfrm>
          <a:prstGeom prst="roundRect">
            <a:avLst/>
          </a:prstGeom>
          <a:solidFill>
            <a:srgbClr val="69C26A">
              <a:alpha val="100000"/>
            </a:srgbClr>
          </a:solidFill>
          <a:ln w="6350">
            <a:solidFill>
              <a:srgbClr val="69C26A"/>
            </a:solidFill>
          </a:ln>
        </p:spPr>
      </p:sp>
      <p:sp>
        <p:nvSpPr>
          <p:cNvPr id="13" name="Objeto editable 13"/>
          <p:cNvSpPr/>
          <p:nvPr/>
        </p:nvSpPr>
        <p:spPr>
          <a:xfrm>
            <a:off x="1115989" y="1630800"/>
            <a:ext cx="7271928" cy="205200"/>
          </a:xfrm>
          <a:prstGeom prst="roundRect">
            <a:avLst/>
          </a:prstGeom>
          <a:solidFill>
            <a:srgbClr val="3C3C3C">
              <a:alpha val="100000"/>
            </a:srgbClr>
          </a:solidFill>
          <a:ln w="6350">
            <a:solidFill>
              <a:srgbClr val="555555"/>
            </a:solidFill>
          </a:ln>
        </p:spPr>
      </p:sp>
      <p:sp>
        <p:nvSpPr>
          <p:cNvPr id="14" name="Objeto editable 14"/>
          <p:cNvSpPr txBox="1"/>
          <p:nvPr/>
        </p:nvSpPr>
        <p:spPr>
          <a:xfrm>
            <a:off x="1277987" y="1666800"/>
            <a:ext cx="6947932" cy="10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850">
                <a:solidFill>
                  <a:srgbClr val="E8E8E8"/>
                </a:solidFill>
                <a:latin typeface="Liberation Sans"/>
              </a:rPr>
              <a:t>ministerioselim.org/</a:t>
            </a:r>
            <a:endParaRPr lang="es-PE" sz="850"/>
          </a:p>
        </p:txBody>
      </p:sp>
      <p:sp>
        <p:nvSpPr>
          <p:cNvPr id="15" name="Objeto editable 15"/>
          <p:cNvSpPr/>
          <p:nvPr/>
        </p:nvSpPr>
        <p:spPr>
          <a:xfrm>
            <a:off x="431996" y="1926000"/>
            <a:ext cx="8135920" cy="450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9E5DC"/>
            </a:solidFill>
          </a:ln>
        </p:spPr>
      </p:sp>
      <p:pic>
        <p:nvPicPr>
          <p:cNvPr id="16" name="Imagen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2006600"/>
            <a:ext cx="3429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Objeto editable 17"/>
          <p:cNvSpPr txBox="1"/>
          <p:nvPr/>
        </p:nvSpPr>
        <p:spPr>
          <a:xfrm>
            <a:off x="1277987" y="2055600"/>
            <a:ext cx="4031960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80" b="1">
                <a:solidFill>
                  <a:srgbClr val="242424"/>
                </a:solidFill>
                <a:latin typeface="Liberation Sans"/>
              </a:rPr>
              <a:t>Quiénes Somos     Doctrina     Foros     Iglesias     Materiales</a:t>
            </a:r>
            <a:endParaRPr lang="es-PE" sz="880"/>
          </a:p>
        </p:txBody>
      </p:sp>
      <p:sp>
        <p:nvSpPr>
          <p:cNvPr id="18" name="Objeto editable 18"/>
          <p:cNvSpPr/>
          <p:nvPr/>
        </p:nvSpPr>
        <p:spPr>
          <a:xfrm>
            <a:off x="7127930" y="2019600"/>
            <a:ext cx="1151989" cy="252000"/>
          </a:xfrm>
          <a:prstGeom prst="roundRect">
            <a:avLst/>
          </a:prstGeom>
          <a:solidFill>
            <a:srgbClr val="F2EAD5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9" name="Objeto editable 19"/>
          <p:cNvSpPr txBox="1"/>
          <p:nvPr/>
        </p:nvSpPr>
        <p:spPr>
          <a:xfrm>
            <a:off x="7217929" y="2073600"/>
            <a:ext cx="971990" cy="12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00" b="1">
                <a:solidFill>
                  <a:srgbClr val="C5A059"/>
                </a:solidFill>
                <a:latin typeface="Liberation Sans"/>
              </a:rPr>
              <a:t>INICIAR SESIÓN</a:t>
            </a:r>
            <a:endParaRPr lang="es-PE" sz="800"/>
          </a:p>
        </p:txBody>
      </p:sp>
      <p:pic>
        <p:nvPicPr>
          <p:cNvPr id="20" name="Imagen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96" y="2376000"/>
            <a:ext cx="8135920" cy="37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Objeto editable 21"/>
          <p:cNvSpPr/>
          <p:nvPr/>
        </p:nvSpPr>
        <p:spPr>
          <a:xfrm>
            <a:off x="431996" y="2376000"/>
            <a:ext cx="8135920" cy="3744000"/>
          </a:xfrm>
          <a:prstGeom prst="rect">
            <a:avLst/>
          </a:prstGeom>
          <a:solidFill>
            <a:srgbClr val="111111">
              <a:alpha val="58000"/>
            </a:srgbClr>
          </a:solidFill>
          <a:ln w="6350">
            <a:solidFill>
              <a:srgbClr val="111111"/>
            </a:solidFill>
          </a:ln>
        </p:spPr>
      </p:sp>
      <p:pic>
        <p:nvPicPr>
          <p:cNvPr id="22" name="Imagen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450" y="2698750"/>
            <a:ext cx="6159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Objeto editable 23"/>
          <p:cNvSpPr txBox="1"/>
          <p:nvPr/>
        </p:nvSpPr>
        <p:spPr>
          <a:xfrm>
            <a:off x="899991" y="3492000"/>
            <a:ext cx="4499956" cy="68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300" b="1">
                <a:solidFill>
                  <a:srgbClr val="FFFFFF"/>
                </a:solidFill>
                <a:latin typeface="Liberation Serif"/>
              </a:rPr>
              <a:t>Una iglesia para conocer a Cristo,</a:t>
            </a:r>
            <a:endParaRPr lang="es-PE" sz="2300"/>
          </a:p>
          <a:p>
            <a:pPr algn="l"/>
            <a:r>
              <a:rPr lang="es-PE" sz="2300" b="1">
                <a:solidFill>
                  <a:srgbClr val="FFFFFF"/>
                </a:solidFill>
                <a:latin typeface="Liberation Serif"/>
              </a:rPr>
              <a:t>crecer y servir</a:t>
            </a:r>
            <a:endParaRPr lang="es-PE" sz="2300"/>
          </a:p>
        </p:txBody>
      </p:sp>
      <p:sp>
        <p:nvSpPr>
          <p:cNvPr id="24" name="Objeto editable 24"/>
          <p:cNvSpPr txBox="1"/>
          <p:nvPr/>
        </p:nvSpPr>
        <p:spPr>
          <a:xfrm>
            <a:off x="917991" y="4356000"/>
            <a:ext cx="4031960" cy="32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>
                <a:solidFill>
                  <a:srgbClr val="FFFFFF"/>
                </a:solidFill>
                <a:latin typeface="Liberation Sans"/>
              </a:rPr>
              <a:t>Encuentra una iglesia, conoce nuestra doctrina y participa de la comunidad.</a:t>
            </a:r>
            <a:endParaRPr lang="es-PE" sz="1100"/>
          </a:p>
        </p:txBody>
      </p:sp>
      <p:sp>
        <p:nvSpPr>
          <p:cNvPr id="25" name="Objeto editable 25"/>
          <p:cNvSpPr/>
          <p:nvPr/>
        </p:nvSpPr>
        <p:spPr>
          <a:xfrm>
            <a:off x="917991" y="4896000"/>
            <a:ext cx="1655984" cy="324000"/>
          </a:xfrm>
          <a:prstGeom prst="round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26" name="Objeto editable 26"/>
          <p:cNvSpPr txBox="1"/>
          <p:nvPr/>
        </p:nvSpPr>
        <p:spPr>
          <a:xfrm>
            <a:off x="1025990" y="4964400"/>
            <a:ext cx="1439986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900" b="1">
                <a:solidFill>
                  <a:srgbClr val="111111"/>
                </a:solidFill>
                <a:latin typeface="Liberation Sans"/>
              </a:rPr>
              <a:t>CONOCER MÁS</a:t>
            </a:r>
            <a:endParaRPr lang="es-PE" sz="900"/>
          </a:p>
        </p:txBody>
      </p:sp>
      <p:sp>
        <p:nvSpPr>
          <p:cNvPr id="27" name="Objeto editable 27"/>
          <p:cNvSpPr txBox="1"/>
          <p:nvPr/>
        </p:nvSpPr>
        <p:spPr>
          <a:xfrm>
            <a:off x="9071911" y="1692000"/>
            <a:ext cx="2447976" cy="27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 b="1">
                <a:solidFill>
                  <a:srgbClr val="87C45B"/>
                </a:solidFill>
                <a:latin typeface="Liberation Sans"/>
              </a:rPr>
              <a:t>LA MEJORA VISIBLE</a:t>
            </a:r>
            <a:endParaRPr lang="es-PE" sz="1100"/>
          </a:p>
        </p:txBody>
      </p:sp>
      <p:sp>
        <p:nvSpPr>
          <p:cNvPr id="28" name="Objeto editable 28"/>
          <p:cNvSpPr/>
          <p:nvPr/>
        </p:nvSpPr>
        <p:spPr>
          <a:xfrm>
            <a:off x="8999911" y="2124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9" name="Objeto editable 29"/>
          <p:cNvSpPr/>
          <p:nvPr/>
        </p:nvSpPr>
        <p:spPr>
          <a:xfrm>
            <a:off x="8999911" y="2124000"/>
            <a:ext cx="64799" cy="702000"/>
          </a:xfrm>
          <a:prstGeom prst="rect">
            <a:avLst/>
          </a:prstGeom>
          <a:solidFill>
            <a:srgbClr val="87C45B">
              <a:alpha val="100000"/>
            </a:srgbClr>
          </a:solidFill>
          <a:ln w="6350">
            <a:solidFill>
              <a:srgbClr val="87C45B"/>
            </a:solidFill>
          </a:ln>
        </p:spPr>
      </p:sp>
      <p:sp>
        <p:nvSpPr>
          <p:cNvPr id="30" name="Objeto editable 30"/>
          <p:cNvSpPr txBox="1"/>
          <p:nvPr/>
        </p:nvSpPr>
        <p:spPr>
          <a:xfrm>
            <a:off x="9215909" y="2242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Mensaje y siguiente paso claros</a:t>
            </a:r>
            <a:endParaRPr lang="es-PE" sz="980"/>
          </a:p>
        </p:txBody>
      </p:sp>
      <p:sp>
        <p:nvSpPr>
          <p:cNvPr id="31" name="Objeto editable 31"/>
          <p:cNvSpPr/>
          <p:nvPr/>
        </p:nvSpPr>
        <p:spPr>
          <a:xfrm>
            <a:off x="8999911" y="3042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2" name="Objeto editable 32"/>
          <p:cNvSpPr/>
          <p:nvPr/>
        </p:nvSpPr>
        <p:spPr>
          <a:xfrm>
            <a:off x="8999911" y="3042000"/>
            <a:ext cx="64799" cy="702000"/>
          </a:xfrm>
          <a:prstGeom prst="rect">
            <a:avLst/>
          </a:prstGeom>
          <a:solidFill>
            <a:srgbClr val="87C45B">
              <a:alpha val="100000"/>
            </a:srgbClr>
          </a:solidFill>
          <a:ln w="6350">
            <a:solidFill>
              <a:srgbClr val="87C45B"/>
            </a:solidFill>
          </a:ln>
        </p:spPr>
      </p:sp>
      <p:sp>
        <p:nvSpPr>
          <p:cNvPr id="33" name="Objeto editable 33"/>
          <p:cNvSpPr txBox="1"/>
          <p:nvPr/>
        </p:nvSpPr>
        <p:spPr>
          <a:xfrm>
            <a:off x="9215909" y="3160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Acceso directo a doctrina e iglesias</a:t>
            </a:r>
            <a:endParaRPr lang="es-PE" sz="980"/>
          </a:p>
        </p:txBody>
      </p:sp>
      <p:sp>
        <p:nvSpPr>
          <p:cNvPr id="34" name="Objeto editable 34"/>
          <p:cNvSpPr/>
          <p:nvPr/>
        </p:nvSpPr>
        <p:spPr>
          <a:xfrm>
            <a:off x="8999911" y="3960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5" name="Objeto editable 35"/>
          <p:cNvSpPr/>
          <p:nvPr/>
        </p:nvSpPr>
        <p:spPr>
          <a:xfrm>
            <a:off x="8999911" y="3960000"/>
            <a:ext cx="64799" cy="702000"/>
          </a:xfrm>
          <a:prstGeom prst="rect">
            <a:avLst/>
          </a:prstGeom>
          <a:solidFill>
            <a:srgbClr val="87C45B">
              <a:alpha val="100000"/>
            </a:srgbClr>
          </a:solidFill>
          <a:ln w="6350">
            <a:solidFill>
              <a:srgbClr val="87C45B"/>
            </a:solidFill>
          </a:ln>
        </p:spPr>
      </p:sp>
      <p:sp>
        <p:nvSpPr>
          <p:cNvPr id="36" name="Objeto editable 36"/>
          <p:cNvSpPr txBox="1"/>
          <p:nvPr/>
        </p:nvSpPr>
        <p:spPr>
          <a:xfrm>
            <a:off x="9215909" y="4078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Diseño coherente en toda la experiencia</a:t>
            </a:r>
            <a:endParaRPr lang="es-PE" sz="98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F7F3EA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6D6A64"/>
                </a:solidFill>
                <a:latin typeface="Liberation Sans"/>
              </a:rPr>
              <a:t>4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RECORRIDO VISUAL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242424"/>
                </a:solidFill>
                <a:latin typeface="Liberation Serif"/>
              </a:rPr>
              <a:t>Doctrina presentada como una biblioteca de formación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sp>
        <p:nvSpPr>
          <p:cNvPr id="8" name="Objeto editable 8"/>
          <p:cNvSpPr/>
          <p:nvPr/>
        </p:nvSpPr>
        <p:spPr>
          <a:xfrm>
            <a:off x="431996" y="1548000"/>
            <a:ext cx="8135920" cy="457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D4D0C8"/>
            </a:solidFill>
          </a:ln>
        </p:spPr>
      </p:sp>
      <p:sp>
        <p:nvSpPr>
          <p:cNvPr id="9" name="Objeto editable 9"/>
          <p:cNvSpPr/>
          <p:nvPr/>
        </p:nvSpPr>
        <p:spPr>
          <a:xfrm>
            <a:off x="431996" y="1548000"/>
            <a:ext cx="8135920" cy="378000"/>
          </a:xfrm>
          <a:prstGeom prst="roundRect">
            <a:avLst/>
          </a:prstGeom>
          <a:solidFill>
            <a:srgbClr val="262626">
              <a:alpha val="100000"/>
            </a:srgbClr>
          </a:solidFill>
          <a:ln w="6350">
            <a:solidFill>
              <a:srgbClr val="262626"/>
            </a:solidFill>
          </a:ln>
        </p:spPr>
      </p:sp>
      <p:sp>
        <p:nvSpPr>
          <p:cNvPr id="10" name="Objeto editable 10"/>
          <p:cNvSpPr/>
          <p:nvPr/>
        </p:nvSpPr>
        <p:spPr>
          <a:xfrm>
            <a:off x="575994" y="1677600"/>
            <a:ext cx="75599" cy="75600"/>
          </a:xfrm>
          <a:prstGeom prst="roundRect">
            <a:avLst/>
          </a:prstGeom>
          <a:solidFill>
            <a:srgbClr val="E36B62">
              <a:alpha val="100000"/>
            </a:srgbClr>
          </a:solidFill>
          <a:ln w="6350">
            <a:solidFill>
              <a:srgbClr val="E36B62"/>
            </a:solidFill>
          </a:ln>
        </p:spPr>
      </p:sp>
      <p:sp>
        <p:nvSpPr>
          <p:cNvPr id="11" name="Objeto editable 11"/>
          <p:cNvSpPr/>
          <p:nvPr/>
        </p:nvSpPr>
        <p:spPr>
          <a:xfrm>
            <a:off x="727193" y="1677600"/>
            <a:ext cx="75599" cy="75600"/>
          </a:xfrm>
          <a:prstGeom prst="roundRect">
            <a:avLst/>
          </a:prstGeom>
          <a:solidFill>
            <a:srgbClr val="E8BD55">
              <a:alpha val="100000"/>
            </a:srgbClr>
          </a:solidFill>
          <a:ln w="6350">
            <a:solidFill>
              <a:srgbClr val="E8BD55"/>
            </a:solidFill>
          </a:ln>
        </p:spPr>
      </p:sp>
      <p:sp>
        <p:nvSpPr>
          <p:cNvPr id="12" name="Objeto editable 12"/>
          <p:cNvSpPr/>
          <p:nvPr/>
        </p:nvSpPr>
        <p:spPr>
          <a:xfrm>
            <a:off x="878391" y="1677600"/>
            <a:ext cx="75599" cy="75600"/>
          </a:xfrm>
          <a:prstGeom prst="roundRect">
            <a:avLst/>
          </a:prstGeom>
          <a:solidFill>
            <a:srgbClr val="69C26A">
              <a:alpha val="100000"/>
            </a:srgbClr>
          </a:solidFill>
          <a:ln w="6350">
            <a:solidFill>
              <a:srgbClr val="69C26A"/>
            </a:solidFill>
          </a:ln>
        </p:spPr>
      </p:sp>
      <p:sp>
        <p:nvSpPr>
          <p:cNvPr id="13" name="Objeto editable 13"/>
          <p:cNvSpPr/>
          <p:nvPr/>
        </p:nvSpPr>
        <p:spPr>
          <a:xfrm>
            <a:off x="1115989" y="1630800"/>
            <a:ext cx="7271928" cy="205200"/>
          </a:xfrm>
          <a:prstGeom prst="roundRect">
            <a:avLst/>
          </a:prstGeom>
          <a:solidFill>
            <a:srgbClr val="3C3C3C">
              <a:alpha val="100000"/>
            </a:srgbClr>
          </a:solidFill>
          <a:ln w="6350">
            <a:solidFill>
              <a:srgbClr val="555555"/>
            </a:solidFill>
          </a:ln>
        </p:spPr>
      </p:sp>
      <p:sp>
        <p:nvSpPr>
          <p:cNvPr id="14" name="Objeto editable 14"/>
          <p:cNvSpPr txBox="1"/>
          <p:nvPr/>
        </p:nvSpPr>
        <p:spPr>
          <a:xfrm>
            <a:off x="1277987" y="1666800"/>
            <a:ext cx="6947932" cy="10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850">
                <a:solidFill>
                  <a:srgbClr val="E8E8E8"/>
                </a:solidFill>
                <a:latin typeface="Liberation Sans"/>
              </a:rPr>
              <a:t>ministerioselim.org/doctrina/</a:t>
            </a:r>
            <a:endParaRPr lang="es-PE" sz="850"/>
          </a:p>
        </p:txBody>
      </p:sp>
      <p:sp>
        <p:nvSpPr>
          <p:cNvPr id="15" name="Objeto editable 15"/>
          <p:cNvSpPr/>
          <p:nvPr/>
        </p:nvSpPr>
        <p:spPr>
          <a:xfrm>
            <a:off x="431996" y="1926000"/>
            <a:ext cx="8135920" cy="450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9E5DC"/>
            </a:solidFill>
          </a:ln>
        </p:spPr>
      </p:sp>
      <p:pic>
        <p:nvPicPr>
          <p:cNvPr id="16" name="Imagen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2006600"/>
            <a:ext cx="3429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Objeto editable 17"/>
          <p:cNvSpPr txBox="1"/>
          <p:nvPr/>
        </p:nvSpPr>
        <p:spPr>
          <a:xfrm>
            <a:off x="1277987" y="2055600"/>
            <a:ext cx="4031960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80" b="1">
                <a:solidFill>
                  <a:srgbClr val="242424"/>
                </a:solidFill>
                <a:latin typeface="Liberation Sans"/>
              </a:rPr>
              <a:t>Quiénes Somos     Doctrina     Foros     Iglesias     Materiales</a:t>
            </a:r>
            <a:endParaRPr lang="es-PE" sz="880"/>
          </a:p>
        </p:txBody>
      </p:sp>
      <p:sp>
        <p:nvSpPr>
          <p:cNvPr id="18" name="Objeto editable 18"/>
          <p:cNvSpPr/>
          <p:nvPr/>
        </p:nvSpPr>
        <p:spPr>
          <a:xfrm>
            <a:off x="7127930" y="2019600"/>
            <a:ext cx="1151989" cy="252000"/>
          </a:xfrm>
          <a:prstGeom prst="roundRect">
            <a:avLst/>
          </a:prstGeom>
          <a:solidFill>
            <a:srgbClr val="F2EAD5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9" name="Objeto editable 19"/>
          <p:cNvSpPr txBox="1"/>
          <p:nvPr/>
        </p:nvSpPr>
        <p:spPr>
          <a:xfrm>
            <a:off x="7217929" y="2073600"/>
            <a:ext cx="971990" cy="12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00" b="1">
                <a:solidFill>
                  <a:srgbClr val="C5A059"/>
                </a:solidFill>
                <a:latin typeface="Liberation Sans"/>
              </a:rPr>
              <a:t>INICIAR SESIÓN</a:t>
            </a:r>
            <a:endParaRPr lang="es-PE" sz="800"/>
          </a:p>
        </p:txBody>
      </p:sp>
      <p:sp>
        <p:nvSpPr>
          <p:cNvPr id="20" name="Objeto editable 20"/>
          <p:cNvSpPr/>
          <p:nvPr/>
        </p:nvSpPr>
        <p:spPr>
          <a:xfrm>
            <a:off x="431996" y="2376000"/>
            <a:ext cx="8135920" cy="1080000"/>
          </a:xfrm>
          <a:prstGeom prst="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111111"/>
            </a:solidFill>
          </a:ln>
        </p:spPr>
      </p:sp>
      <p:sp>
        <p:nvSpPr>
          <p:cNvPr id="21" name="Objeto editable 21"/>
          <p:cNvSpPr txBox="1"/>
          <p:nvPr/>
        </p:nvSpPr>
        <p:spPr>
          <a:xfrm>
            <a:off x="755993" y="2628000"/>
            <a:ext cx="7487926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2500" b="1">
                <a:solidFill>
                  <a:srgbClr val="C5A059"/>
                </a:solidFill>
                <a:latin typeface="Liberation Serif"/>
              </a:rPr>
              <a:t>Doctrina</a:t>
            </a:r>
            <a:endParaRPr lang="es-PE" sz="2500"/>
          </a:p>
        </p:txBody>
      </p:sp>
      <p:sp>
        <p:nvSpPr>
          <p:cNvPr id="22" name="Objeto editable 22"/>
          <p:cNvSpPr txBox="1"/>
          <p:nvPr/>
        </p:nvSpPr>
        <p:spPr>
          <a:xfrm>
            <a:off x="1187988" y="2988000"/>
            <a:ext cx="6623935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50">
                <a:solidFill>
                  <a:srgbClr val="FFFFFF"/>
                </a:solidFill>
                <a:latin typeface="Liberation Sans"/>
              </a:rPr>
              <a:t>Aprende a tu ritmo y profundiza en los fundamentos de la fe</a:t>
            </a:r>
            <a:endParaRPr lang="es-PE" sz="1050"/>
          </a:p>
        </p:txBody>
      </p:sp>
      <p:sp>
        <p:nvSpPr>
          <p:cNvPr id="23" name="Objeto editable 23"/>
          <p:cNvSpPr/>
          <p:nvPr/>
        </p:nvSpPr>
        <p:spPr>
          <a:xfrm>
            <a:off x="665993" y="3636000"/>
            <a:ext cx="2393976" cy="2196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pic>
        <p:nvPicPr>
          <p:cNvPr id="24" name="Imagen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93" y="3636000"/>
            <a:ext cx="2393976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Objeto editable 25"/>
          <p:cNvSpPr txBox="1"/>
          <p:nvPr/>
        </p:nvSpPr>
        <p:spPr>
          <a:xfrm>
            <a:off x="809992" y="4860000"/>
            <a:ext cx="2105979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100" b="1">
                <a:solidFill>
                  <a:srgbClr val="87C45B"/>
                </a:solidFill>
                <a:latin typeface="Liberation Sans"/>
              </a:rPr>
              <a:t>BÁSICA</a:t>
            </a:r>
            <a:endParaRPr lang="es-PE" sz="1100"/>
          </a:p>
        </p:txBody>
      </p:sp>
      <p:sp>
        <p:nvSpPr>
          <p:cNvPr id="26" name="Objeto editable 26"/>
          <p:cNvSpPr txBox="1"/>
          <p:nvPr/>
        </p:nvSpPr>
        <p:spPr>
          <a:xfrm>
            <a:off x="863991" y="5130000"/>
            <a:ext cx="1997980" cy="32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920">
                <a:solidFill>
                  <a:srgbClr val="6D6A64"/>
                </a:solidFill>
                <a:latin typeface="Liberation Sans"/>
              </a:rPr>
              <a:t>Fundamentos para comenzar</a:t>
            </a:r>
            <a:endParaRPr lang="es-PE" sz="920"/>
          </a:p>
        </p:txBody>
      </p:sp>
      <p:sp>
        <p:nvSpPr>
          <p:cNvPr id="27" name="Objeto editable 27"/>
          <p:cNvSpPr txBox="1"/>
          <p:nvPr/>
        </p:nvSpPr>
        <p:spPr>
          <a:xfrm>
            <a:off x="863991" y="5526000"/>
            <a:ext cx="1997980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00" b="1">
                <a:solidFill>
                  <a:srgbClr val="242424"/>
                </a:solidFill>
                <a:latin typeface="Liberation Sans"/>
              </a:rPr>
              <a:t>VER LECCIONES  →</a:t>
            </a:r>
            <a:endParaRPr lang="es-PE" sz="800"/>
          </a:p>
        </p:txBody>
      </p:sp>
      <p:sp>
        <p:nvSpPr>
          <p:cNvPr id="28" name="Objeto editable 28"/>
          <p:cNvSpPr/>
          <p:nvPr/>
        </p:nvSpPr>
        <p:spPr>
          <a:xfrm>
            <a:off x="3293968" y="3636000"/>
            <a:ext cx="2393976" cy="2196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pic>
        <p:nvPicPr>
          <p:cNvPr id="29" name="Imagen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3968" y="3636000"/>
            <a:ext cx="2393976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Objeto editable 30"/>
          <p:cNvSpPr txBox="1"/>
          <p:nvPr/>
        </p:nvSpPr>
        <p:spPr>
          <a:xfrm>
            <a:off x="3437966" y="4860000"/>
            <a:ext cx="2105979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100" b="1">
                <a:solidFill>
                  <a:srgbClr val="36BBD3"/>
                </a:solidFill>
                <a:latin typeface="Liberation Sans"/>
              </a:rPr>
              <a:t>INTERMEDIA</a:t>
            </a:r>
            <a:endParaRPr lang="es-PE" sz="1100"/>
          </a:p>
        </p:txBody>
      </p:sp>
      <p:sp>
        <p:nvSpPr>
          <p:cNvPr id="31" name="Objeto editable 31"/>
          <p:cNvSpPr txBox="1"/>
          <p:nvPr/>
        </p:nvSpPr>
        <p:spPr>
          <a:xfrm>
            <a:off x="3491966" y="5130000"/>
            <a:ext cx="1997980" cy="32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920">
                <a:solidFill>
                  <a:srgbClr val="6D6A64"/>
                </a:solidFill>
                <a:latin typeface="Liberation Sans"/>
              </a:rPr>
              <a:t>Vida cristiana y Espíritu Santo</a:t>
            </a:r>
            <a:endParaRPr lang="es-PE" sz="920"/>
          </a:p>
        </p:txBody>
      </p:sp>
      <p:sp>
        <p:nvSpPr>
          <p:cNvPr id="32" name="Objeto editable 32"/>
          <p:cNvSpPr txBox="1"/>
          <p:nvPr/>
        </p:nvSpPr>
        <p:spPr>
          <a:xfrm>
            <a:off x="3491966" y="5526000"/>
            <a:ext cx="1997980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00" b="1">
                <a:solidFill>
                  <a:srgbClr val="242424"/>
                </a:solidFill>
                <a:latin typeface="Liberation Sans"/>
              </a:rPr>
              <a:t>VER LECCIONES  →</a:t>
            </a:r>
            <a:endParaRPr lang="es-PE" sz="800"/>
          </a:p>
        </p:txBody>
      </p:sp>
      <p:sp>
        <p:nvSpPr>
          <p:cNvPr id="33" name="Objeto editable 33"/>
          <p:cNvSpPr/>
          <p:nvPr/>
        </p:nvSpPr>
        <p:spPr>
          <a:xfrm>
            <a:off x="5921942" y="3636000"/>
            <a:ext cx="2393976" cy="2196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pic>
        <p:nvPicPr>
          <p:cNvPr id="34" name="Imagen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1942" y="3636000"/>
            <a:ext cx="2393976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Objeto editable 35"/>
          <p:cNvSpPr txBox="1"/>
          <p:nvPr/>
        </p:nvSpPr>
        <p:spPr>
          <a:xfrm>
            <a:off x="6065940" y="4860000"/>
            <a:ext cx="2105979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100" b="1">
                <a:solidFill>
                  <a:srgbClr val="C5A059"/>
                </a:solidFill>
                <a:latin typeface="Liberation Sans"/>
              </a:rPr>
              <a:t>AVANZADA</a:t>
            </a:r>
            <a:endParaRPr lang="es-PE" sz="1100"/>
          </a:p>
        </p:txBody>
      </p:sp>
      <p:sp>
        <p:nvSpPr>
          <p:cNvPr id="36" name="Objeto editable 36"/>
          <p:cNvSpPr txBox="1"/>
          <p:nvPr/>
        </p:nvSpPr>
        <p:spPr>
          <a:xfrm>
            <a:off x="6119940" y="5130000"/>
            <a:ext cx="1997980" cy="32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920">
                <a:solidFill>
                  <a:srgbClr val="6D6A64"/>
                </a:solidFill>
                <a:latin typeface="Liberation Sans"/>
              </a:rPr>
              <a:t>Estudio y panorama bíblico</a:t>
            </a:r>
            <a:endParaRPr lang="es-PE" sz="920"/>
          </a:p>
        </p:txBody>
      </p:sp>
      <p:sp>
        <p:nvSpPr>
          <p:cNvPr id="37" name="Objeto editable 37"/>
          <p:cNvSpPr txBox="1"/>
          <p:nvPr/>
        </p:nvSpPr>
        <p:spPr>
          <a:xfrm>
            <a:off x="6119940" y="5526000"/>
            <a:ext cx="1997980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00" b="1">
                <a:solidFill>
                  <a:srgbClr val="242424"/>
                </a:solidFill>
                <a:latin typeface="Liberation Sans"/>
              </a:rPr>
              <a:t>VER LECCIONES  →</a:t>
            </a:r>
            <a:endParaRPr lang="es-PE" sz="800"/>
          </a:p>
        </p:txBody>
      </p:sp>
      <p:sp>
        <p:nvSpPr>
          <p:cNvPr id="38" name="Objeto editable 38"/>
          <p:cNvSpPr txBox="1"/>
          <p:nvPr/>
        </p:nvSpPr>
        <p:spPr>
          <a:xfrm>
            <a:off x="9071911" y="1692000"/>
            <a:ext cx="2447976" cy="27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 b="1">
                <a:solidFill>
                  <a:srgbClr val="C5A059"/>
                </a:solidFill>
                <a:latin typeface="Liberation Sans"/>
              </a:rPr>
              <a:t>LO QUE PERMITE</a:t>
            </a:r>
            <a:endParaRPr lang="es-PE" sz="1100"/>
          </a:p>
        </p:txBody>
      </p:sp>
      <p:sp>
        <p:nvSpPr>
          <p:cNvPr id="39" name="Objeto editable 39"/>
          <p:cNvSpPr/>
          <p:nvPr/>
        </p:nvSpPr>
        <p:spPr>
          <a:xfrm>
            <a:off x="8999911" y="2124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0" name="Objeto editable 40"/>
          <p:cNvSpPr/>
          <p:nvPr/>
        </p:nvSpPr>
        <p:spPr>
          <a:xfrm>
            <a:off x="8999911" y="2124000"/>
            <a:ext cx="64799" cy="702000"/>
          </a:xfrm>
          <a:prstGeom prst="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41" name="Objeto editable 41"/>
          <p:cNvSpPr txBox="1"/>
          <p:nvPr/>
        </p:nvSpPr>
        <p:spPr>
          <a:xfrm>
            <a:off x="9215909" y="2242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Tres niveles con rutas comprensibles</a:t>
            </a:r>
            <a:endParaRPr lang="es-PE" sz="980"/>
          </a:p>
        </p:txBody>
      </p:sp>
      <p:sp>
        <p:nvSpPr>
          <p:cNvPr id="42" name="Objeto editable 42"/>
          <p:cNvSpPr/>
          <p:nvPr/>
        </p:nvSpPr>
        <p:spPr>
          <a:xfrm>
            <a:off x="8999911" y="3042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3" name="Objeto editable 43"/>
          <p:cNvSpPr/>
          <p:nvPr/>
        </p:nvSpPr>
        <p:spPr>
          <a:xfrm>
            <a:off x="8999911" y="3042000"/>
            <a:ext cx="64799" cy="702000"/>
          </a:xfrm>
          <a:prstGeom prst="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44" name="Objeto editable 44"/>
          <p:cNvSpPr txBox="1"/>
          <p:nvPr/>
        </p:nvSpPr>
        <p:spPr>
          <a:xfrm>
            <a:off x="9215909" y="3160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Entradas con autor, recursos y referencias</a:t>
            </a:r>
            <a:endParaRPr lang="es-PE" sz="980"/>
          </a:p>
        </p:txBody>
      </p:sp>
      <p:sp>
        <p:nvSpPr>
          <p:cNvPr id="45" name="Objeto editable 45"/>
          <p:cNvSpPr/>
          <p:nvPr/>
        </p:nvSpPr>
        <p:spPr>
          <a:xfrm>
            <a:off x="8999911" y="3960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6" name="Objeto editable 46"/>
          <p:cNvSpPr/>
          <p:nvPr/>
        </p:nvSpPr>
        <p:spPr>
          <a:xfrm>
            <a:off x="8999911" y="3960000"/>
            <a:ext cx="64799" cy="702000"/>
          </a:xfrm>
          <a:prstGeom prst="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47" name="Objeto editable 47"/>
          <p:cNvSpPr txBox="1"/>
          <p:nvPr/>
        </p:nvSpPr>
        <p:spPr>
          <a:xfrm>
            <a:off x="9215909" y="4078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Contenido administrable desde Wagtail</a:t>
            </a:r>
            <a:endParaRPr lang="es-PE" sz="98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F7F3EA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6D6A64"/>
                </a:solidFill>
                <a:latin typeface="Liberation Sans"/>
              </a:rPr>
              <a:t>5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RECORRIDO VISUAL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242424"/>
                </a:solidFill>
                <a:latin typeface="Liberation Serif"/>
              </a:rPr>
              <a:t>Cada iglesia obtiene una presencia local completa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sp>
        <p:nvSpPr>
          <p:cNvPr id="8" name="Objeto editable 8"/>
          <p:cNvSpPr/>
          <p:nvPr/>
        </p:nvSpPr>
        <p:spPr>
          <a:xfrm>
            <a:off x="431996" y="1548000"/>
            <a:ext cx="8135920" cy="457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D4D0C8"/>
            </a:solidFill>
          </a:ln>
        </p:spPr>
      </p:sp>
      <p:sp>
        <p:nvSpPr>
          <p:cNvPr id="9" name="Objeto editable 9"/>
          <p:cNvSpPr/>
          <p:nvPr/>
        </p:nvSpPr>
        <p:spPr>
          <a:xfrm>
            <a:off x="431996" y="1548000"/>
            <a:ext cx="8135920" cy="378000"/>
          </a:xfrm>
          <a:prstGeom prst="roundRect">
            <a:avLst/>
          </a:prstGeom>
          <a:solidFill>
            <a:srgbClr val="262626">
              <a:alpha val="100000"/>
            </a:srgbClr>
          </a:solidFill>
          <a:ln w="6350">
            <a:solidFill>
              <a:srgbClr val="262626"/>
            </a:solidFill>
          </a:ln>
        </p:spPr>
      </p:sp>
      <p:sp>
        <p:nvSpPr>
          <p:cNvPr id="10" name="Objeto editable 10"/>
          <p:cNvSpPr/>
          <p:nvPr/>
        </p:nvSpPr>
        <p:spPr>
          <a:xfrm>
            <a:off x="575994" y="1677600"/>
            <a:ext cx="75599" cy="75600"/>
          </a:xfrm>
          <a:prstGeom prst="roundRect">
            <a:avLst/>
          </a:prstGeom>
          <a:solidFill>
            <a:srgbClr val="E36B62">
              <a:alpha val="100000"/>
            </a:srgbClr>
          </a:solidFill>
          <a:ln w="6350">
            <a:solidFill>
              <a:srgbClr val="E36B62"/>
            </a:solidFill>
          </a:ln>
        </p:spPr>
      </p:sp>
      <p:sp>
        <p:nvSpPr>
          <p:cNvPr id="11" name="Objeto editable 11"/>
          <p:cNvSpPr/>
          <p:nvPr/>
        </p:nvSpPr>
        <p:spPr>
          <a:xfrm>
            <a:off x="727193" y="1677600"/>
            <a:ext cx="75599" cy="75600"/>
          </a:xfrm>
          <a:prstGeom prst="roundRect">
            <a:avLst/>
          </a:prstGeom>
          <a:solidFill>
            <a:srgbClr val="E8BD55">
              <a:alpha val="100000"/>
            </a:srgbClr>
          </a:solidFill>
          <a:ln w="6350">
            <a:solidFill>
              <a:srgbClr val="E8BD55"/>
            </a:solidFill>
          </a:ln>
        </p:spPr>
      </p:sp>
      <p:sp>
        <p:nvSpPr>
          <p:cNvPr id="12" name="Objeto editable 12"/>
          <p:cNvSpPr/>
          <p:nvPr/>
        </p:nvSpPr>
        <p:spPr>
          <a:xfrm>
            <a:off x="878391" y="1677600"/>
            <a:ext cx="75599" cy="75600"/>
          </a:xfrm>
          <a:prstGeom prst="roundRect">
            <a:avLst/>
          </a:prstGeom>
          <a:solidFill>
            <a:srgbClr val="69C26A">
              <a:alpha val="100000"/>
            </a:srgbClr>
          </a:solidFill>
          <a:ln w="6350">
            <a:solidFill>
              <a:srgbClr val="69C26A"/>
            </a:solidFill>
          </a:ln>
        </p:spPr>
      </p:sp>
      <p:sp>
        <p:nvSpPr>
          <p:cNvPr id="13" name="Objeto editable 13"/>
          <p:cNvSpPr/>
          <p:nvPr/>
        </p:nvSpPr>
        <p:spPr>
          <a:xfrm>
            <a:off x="1115989" y="1630800"/>
            <a:ext cx="7271928" cy="205200"/>
          </a:xfrm>
          <a:prstGeom prst="roundRect">
            <a:avLst/>
          </a:prstGeom>
          <a:solidFill>
            <a:srgbClr val="3C3C3C">
              <a:alpha val="100000"/>
            </a:srgbClr>
          </a:solidFill>
          <a:ln w="6350">
            <a:solidFill>
              <a:srgbClr val="555555"/>
            </a:solidFill>
          </a:ln>
        </p:spPr>
      </p:sp>
      <p:sp>
        <p:nvSpPr>
          <p:cNvPr id="14" name="Objeto editable 14"/>
          <p:cNvSpPr txBox="1"/>
          <p:nvPr/>
        </p:nvSpPr>
        <p:spPr>
          <a:xfrm>
            <a:off x="1277987" y="1666800"/>
            <a:ext cx="6947932" cy="10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850">
                <a:solidFill>
                  <a:srgbClr val="E8E8E8"/>
                </a:solidFill>
                <a:latin typeface="Liberation Sans"/>
              </a:rPr>
              <a:t>ministerioselim.org/peru/lima/elim-demo/</a:t>
            </a:r>
            <a:endParaRPr lang="es-PE" sz="850"/>
          </a:p>
        </p:txBody>
      </p:sp>
      <p:sp>
        <p:nvSpPr>
          <p:cNvPr id="15" name="Objeto editable 15"/>
          <p:cNvSpPr/>
          <p:nvPr/>
        </p:nvSpPr>
        <p:spPr>
          <a:xfrm>
            <a:off x="431996" y="1926000"/>
            <a:ext cx="8135920" cy="450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9E5DC"/>
            </a:solidFill>
          </a:ln>
        </p:spPr>
      </p:sp>
      <p:pic>
        <p:nvPicPr>
          <p:cNvPr id="16" name="Imagen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2006600"/>
            <a:ext cx="3429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Objeto editable 17"/>
          <p:cNvSpPr txBox="1"/>
          <p:nvPr/>
        </p:nvSpPr>
        <p:spPr>
          <a:xfrm>
            <a:off x="1277987" y="2055600"/>
            <a:ext cx="4031960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80" b="1">
                <a:solidFill>
                  <a:srgbClr val="242424"/>
                </a:solidFill>
                <a:latin typeface="Liberation Sans"/>
              </a:rPr>
              <a:t>Quiénes Somos     Doctrina     Foros     Iglesias     Materiales</a:t>
            </a:r>
            <a:endParaRPr lang="es-PE" sz="880"/>
          </a:p>
        </p:txBody>
      </p:sp>
      <p:sp>
        <p:nvSpPr>
          <p:cNvPr id="18" name="Objeto editable 18"/>
          <p:cNvSpPr/>
          <p:nvPr/>
        </p:nvSpPr>
        <p:spPr>
          <a:xfrm>
            <a:off x="7127930" y="2019600"/>
            <a:ext cx="1151989" cy="252000"/>
          </a:xfrm>
          <a:prstGeom prst="roundRect">
            <a:avLst/>
          </a:prstGeom>
          <a:solidFill>
            <a:srgbClr val="F2EAD5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9" name="Objeto editable 19"/>
          <p:cNvSpPr txBox="1"/>
          <p:nvPr/>
        </p:nvSpPr>
        <p:spPr>
          <a:xfrm>
            <a:off x="7217929" y="2073600"/>
            <a:ext cx="971990" cy="12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00" b="1">
                <a:solidFill>
                  <a:srgbClr val="C5A059"/>
                </a:solidFill>
                <a:latin typeface="Liberation Sans"/>
              </a:rPr>
              <a:t>INICIAR SESIÓN</a:t>
            </a:r>
            <a:endParaRPr lang="es-PE" sz="800"/>
          </a:p>
        </p:txBody>
      </p:sp>
      <p:pic>
        <p:nvPicPr>
          <p:cNvPr id="20" name="Imagen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96" y="2376000"/>
            <a:ext cx="8135920" cy="2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Objeto editable 21"/>
          <p:cNvSpPr/>
          <p:nvPr/>
        </p:nvSpPr>
        <p:spPr>
          <a:xfrm>
            <a:off x="431996" y="2376000"/>
            <a:ext cx="8135920" cy="2016000"/>
          </a:xfrm>
          <a:prstGeom prst="rect">
            <a:avLst/>
          </a:prstGeom>
          <a:solidFill>
            <a:srgbClr val="111111">
              <a:alpha val="55000"/>
            </a:srgbClr>
          </a:solidFill>
          <a:ln w="6350">
            <a:solidFill>
              <a:srgbClr val="111111"/>
            </a:solidFill>
          </a:ln>
        </p:spPr>
      </p:sp>
      <p:sp>
        <p:nvSpPr>
          <p:cNvPr id="22" name="Objeto editable 22"/>
          <p:cNvSpPr txBox="1"/>
          <p:nvPr/>
        </p:nvSpPr>
        <p:spPr>
          <a:xfrm>
            <a:off x="791992" y="3222000"/>
            <a:ext cx="7415927" cy="32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2700" b="1">
                <a:solidFill>
                  <a:srgbClr val="FFFFFF"/>
                </a:solidFill>
                <a:latin typeface="Liberation Serif"/>
              </a:rPr>
              <a:t>Elim Lima</a:t>
            </a:r>
            <a:endParaRPr lang="es-PE" sz="2700"/>
          </a:p>
        </p:txBody>
      </p:sp>
      <p:sp>
        <p:nvSpPr>
          <p:cNvPr id="23" name="Objeto editable 23"/>
          <p:cNvSpPr txBox="1"/>
          <p:nvPr/>
        </p:nvSpPr>
        <p:spPr>
          <a:xfrm>
            <a:off x="1223988" y="3618000"/>
            <a:ext cx="6551936" cy="19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00" b="1">
                <a:solidFill>
                  <a:srgbClr val="E7D7AA"/>
                </a:solidFill>
                <a:latin typeface="Liberation Sans"/>
              </a:rPr>
              <a:t>Horarios · ubicación · contacto · eventos</a:t>
            </a:r>
            <a:endParaRPr lang="es-PE" sz="1000"/>
          </a:p>
        </p:txBody>
      </p:sp>
      <p:sp>
        <p:nvSpPr>
          <p:cNvPr id="24" name="Objeto editable 24"/>
          <p:cNvSpPr/>
          <p:nvPr/>
        </p:nvSpPr>
        <p:spPr>
          <a:xfrm>
            <a:off x="719993" y="4680000"/>
            <a:ext cx="2339977" cy="97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pic>
        <p:nvPicPr>
          <p:cNvPr id="25" name="Imagen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92" y="4806000"/>
            <a:ext cx="665993" cy="6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Objeto editable 26"/>
          <p:cNvSpPr txBox="1"/>
          <p:nvPr/>
        </p:nvSpPr>
        <p:spPr>
          <a:xfrm>
            <a:off x="1655984" y="4824000"/>
            <a:ext cx="1223988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 b="1">
                <a:solidFill>
                  <a:srgbClr val="C5A059"/>
                </a:solidFill>
                <a:latin typeface="Liberation Sans"/>
              </a:rPr>
              <a:t>Pastor local</a:t>
            </a:r>
            <a:endParaRPr lang="es-PE" sz="1100"/>
          </a:p>
        </p:txBody>
      </p:sp>
      <p:sp>
        <p:nvSpPr>
          <p:cNvPr id="27" name="Objeto editable 27"/>
          <p:cNvSpPr txBox="1"/>
          <p:nvPr/>
        </p:nvSpPr>
        <p:spPr>
          <a:xfrm>
            <a:off x="1655984" y="5076000"/>
            <a:ext cx="1187988" cy="32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70">
                <a:solidFill>
                  <a:srgbClr val="6D6A64"/>
                </a:solidFill>
                <a:latin typeface="Liberation Sans"/>
              </a:rPr>
              <a:t>Perfil, contacto y responsabilidad visible</a:t>
            </a:r>
            <a:endParaRPr lang="es-PE" sz="870"/>
          </a:p>
        </p:txBody>
      </p:sp>
      <p:sp>
        <p:nvSpPr>
          <p:cNvPr id="28" name="Objeto editable 28"/>
          <p:cNvSpPr/>
          <p:nvPr/>
        </p:nvSpPr>
        <p:spPr>
          <a:xfrm>
            <a:off x="3311967" y="4680000"/>
            <a:ext cx="2123979" cy="450000"/>
          </a:xfrm>
          <a:prstGeom prst="roundRect">
            <a:avLst/>
          </a:prstGeom>
          <a:solidFill>
            <a:srgbClr val="F2EAD5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9" name="Objeto editable 29"/>
          <p:cNvSpPr txBox="1"/>
          <p:nvPr/>
        </p:nvSpPr>
        <p:spPr>
          <a:xfrm>
            <a:off x="3437966" y="4824000"/>
            <a:ext cx="1871982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50" b="1">
                <a:solidFill>
                  <a:srgbClr val="242424"/>
                </a:solidFill>
                <a:latin typeface="Liberation Sans"/>
              </a:rPr>
              <a:t>PRÓXIMOS EVENTOS</a:t>
            </a:r>
            <a:endParaRPr lang="es-PE" sz="850"/>
          </a:p>
        </p:txBody>
      </p:sp>
      <p:sp>
        <p:nvSpPr>
          <p:cNvPr id="30" name="Objeto editable 30"/>
          <p:cNvSpPr/>
          <p:nvPr/>
        </p:nvSpPr>
        <p:spPr>
          <a:xfrm>
            <a:off x="5651944" y="4680000"/>
            <a:ext cx="2123979" cy="450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1" name="Objeto editable 31"/>
          <p:cNvSpPr txBox="1"/>
          <p:nvPr/>
        </p:nvSpPr>
        <p:spPr>
          <a:xfrm>
            <a:off x="5777943" y="4824000"/>
            <a:ext cx="1871982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50" b="1">
                <a:solidFill>
                  <a:srgbClr val="242424"/>
                </a:solidFill>
                <a:latin typeface="Liberation Sans"/>
              </a:rPr>
              <a:t>PREDICACIONES</a:t>
            </a:r>
            <a:endParaRPr lang="es-PE" sz="850"/>
          </a:p>
        </p:txBody>
      </p:sp>
      <p:sp>
        <p:nvSpPr>
          <p:cNvPr id="32" name="Objeto editable 32"/>
          <p:cNvSpPr/>
          <p:nvPr/>
        </p:nvSpPr>
        <p:spPr>
          <a:xfrm>
            <a:off x="3311967" y="5256000"/>
            <a:ext cx="2123979" cy="450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3" name="Objeto editable 33"/>
          <p:cNvSpPr txBox="1"/>
          <p:nvPr/>
        </p:nvSpPr>
        <p:spPr>
          <a:xfrm>
            <a:off x="3437966" y="5400000"/>
            <a:ext cx="1871982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50" b="1">
                <a:solidFill>
                  <a:srgbClr val="242424"/>
                </a:solidFill>
                <a:latin typeface="Liberation Sans"/>
              </a:rPr>
              <a:t>MATERIALES</a:t>
            </a:r>
            <a:endParaRPr lang="es-PE" sz="850"/>
          </a:p>
        </p:txBody>
      </p:sp>
      <p:sp>
        <p:nvSpPr>
          <p:cNvPr id="34" name="Objeto editable 34"/>
          <p:cNvSpPr txBox="1"/>
          <p:nvPr/>
        </p:nvSpPr>
        <p:spPr>
          <a:xfrm>
            <a:off x="9071911" y="1692000"/>
            <a:ext cx="2447976" cy="27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 b="1">
                <a:solidFill>
                  <a:srgbClr val="36BBD3"/>
                </a:solidFill>
                <a:latin typeface="Liberation Sans"/>
              </a:rPr>
              <a:t>UNA FICHA VIVA</a:t>
            </a:r>
            <a:endParaRPr lang="es-PE" sz="1100"/>
          </a:p>
        </p:txBody>
      </p:sp>
      <p:sp>
        <p:nvSpPr>
          <p:cNvPr id="35" name="Objeto editable 35"/>
          <p:cNvSpPr/>
          <p:nvPr/>
        </p:nvSpPr>
        <p:spPr>
          <a:xfrm>
            <a:off x="8999911" y="2124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6" name="Objeto editable 36"/>
          <p:cNvSpPr/>
          <p:nvPr/>
        </p:nvSpPr>
        <p:spPr>
          <a:xfrm>
            <a:off x="8999911" y="2124000"/>
            <a:ext cx="64799" cy="702000"/>
          </a:xfrm>
          <a:prstGeom prst="rect">
            <a:avLst/>
          </a:prstGeom>
          <a:solidFill>
            <a:srgbClr val="36BBD3">
              <a:alpha val="100000"/>
            </a:srgbClr>
          </a:solidFill>
          <a:ln w="6350">
            <a:solidFill>
              <a:srgbClr val="36BBD3"/>
            </a:solidFill>
          </a:ln>
        </p:spPr>
      </p:sp>
      <p:sp>
        <p:nvSpPr>
          <p:cNvPr id="37" name="Objeto editable 37"/>
          <p:cNvSpPr txBox="1"/>
          <p:nvPr/>
        </p:nvSpPr>
        <p:spPr>
          <a:xfrm>
            <a:off x="9215909" y="2242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Información local actualizable</a:t>
            </a:r>
            <a:endParaRPr lang="es-PE" sz="980"/>
          </a:p>
        </p:txBody>
      </p:sp>
      <p:sp>
        <p:nvSpPr>
          <p:cNvPr id="38" name="Objeto editable 38"/>
          <p:cNvSpPr/>
          <p:nvPr/>
        </p:nvSpPr>
        <p:spPr>
          <a:xfrm>
            <a:off x="8999911" y="3042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9" name="Objeto editable 39"/>
          <p:cNvSpPr/>
          <p:nvPr/>
        </p:nvSpPr>
        <p:spPr>
          <a:xfrm>
            <a:off x="8999911" y="3042000"/>
            <a:ext cx="64799" cy="702000"/>
          </a:xfrm>
          <a:prstGeom prst="rect">
            <a:avLst/>
          </a:prstGeom>
          <a:solidFill>
            <a:srgbClr val="36BBD3">
              <a:alpha val="100000"/>
            </a:srgbClr>
          </a:solidFill>
          <a:ln w="6350">
            <a:solidFill>
              <a:srgbClr val="36BBD3"/>
            </a:solidFill>
          </a:ln>
        </p:spPr>
      </p:sp>
      <p:sp>
        <p:nvSpPr>
          <p:cNvPr id="40" name="Objeto editable 40"/>
          <p:cNvSpPr txBox="1"/>
          <p:nvPr/>
        </p:nvSpPr>
        <p:spPr>
          <a:xfrm>
            <a:off x="9215909" y="3160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Pastor y responsables identificados</a:t>
            </a:r>
            <a:endParaRPr lang="es-PE" sz="980"/>
          </a:p>
        </p:txBody>
      </p:sp>
      <p:sp>
        <p:nvSpPr>
          <p:cNvPr id="41" name="Objeto editable 41"/>
          <p:cNvSpPr/>
          <p:nvPr/>
        </p:nvSpPr>
        <p:spPr>
          <a:xfrm>
            <a:off x="8999911" y="3960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2" name="Objeto editable 42"/>
          <p:cNvSpPr/>
          <p:nvPr/>
        </p:nvSpPr>
        <p:spPr>
          <a:xfrm>
            <a:off x="8999911" y="3960000"/>
            <a:ext cx="64799" cy="702000"/>
          </a:xfrm>
          <a:prstGeom prst="rect">
            <a:avLst/>
          </a:prstGeom>
          <a:solidFill>
            <a:srgbClr val="36BBD3">
              <a:alpha val="100000"/>
            </a:srgbClr>
          </a:solidFill>
          <a:ln w="6350">
            <a:solidFill>
              <a:srgbClr val="36BBD3"/>
            </a:solidFill>
          </a:ln>
        </p:spPr>
      </p:sp>
      <p:sp>
        <p:nvSpPr>
          <p:cNvPr id="43" name="Objeto editable 43"/>
          <p:cNvSpPr txBox="1"/>
          <p:nvPr/>
        </p:nvSpPr>
        <p:spPr>
          <a:xfrm>
            <a:off x="9215909" y="4078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Eventos y recursos propios</a:t>
            </a:r>
            <a:endParaRPr lang="es-PE" sz="98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F7F3EA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6D6A64"/>
                </a:solidFill>
                <a:latin typeface="Liberation Sans"/>
              </a:rPr>
              <a:t>6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RECORRIDO VISUAL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242424"/>
                </a:solidFill>
                <a:latin typeface="Liberation Serif"/>
              </a:rPr>
              <a:t>La cobertura se convierte en un directorio fácil de explorar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sp>
        <p:nvSpPr>
          <p:cNvPr id="8" name="Objeto editable 8"/>
          <p:cNvSpPr/>
          <p:nvPr/>
        </p:nvSpPr>
        <p:spPr>
          <a:xfrm>
            <a:off x="431996" y="1548000"/>
            <a:ext cx="8135920" cy="457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D4D0C8"/>
            </a:solidFill>
          </a:ln>
        </p:spPr>
      </p:sp>
      <p:sp>
        <p:nvSpPr>
          <p:cNvPr id="9" name="Objeto editable 9"/>
          <p:cNvSpPr/>
          <p:nvPr/>
        </p:nvSpPr>
        <p:spPr>
          <a:xfrm>
            <a:off x="431996" y="1548000"/>
            <a:ext cx="8135920" cy="378000"/>
          </a:xfrm>
          <a:prstGeom prst="roundRect">
            <a:avLst/>
          </a:prstGeom>
          <a:solidFill>
            <a:srgbClr val="262626">
              <a:alpha val="100000"/>
            </a:srgbClr>
          </a:solidFill>
          <a:ln w="6350">
            <a:solidFill>
              <a:srgbClr val="262626"/>
            </a:solidFill>
          </a:ln>
        </p:spPr>
      </p:sp>
      <p:sp>
        <p:nvSpPr>
          <p:cNvPr id="10" name="Objeto editable 10"/>
          <p:cNvSpPr/>
          <p:nvPr/>
        </p:nvSpPr>
        <p:spPr>
          <a:xfrm>
            <a:off x="575994" y="1677600"/>
            <a:ext cx="75599" cy="75600"/>
          </a:xfrm>
          <a:prstGeom prst="roundRect">
            <a:avLst/>
          </a:prstGeom>
          <a:solidFill>
            <a:srgbClr val="E36B62">
              <a:alpha val="100000"/>
            </a:srgbClr>
          </a:solidFill>
          <a:ln w="6350">
            <a:solidFill>
              <a:srgbClr val="E36B62"/>
            </a:solidFill>
          </a:ln>
        </p:spPr>
      </p:sp>
      <p:sp>
        <p:nvSpPr>
          <p:cNvPr id="11" name="Objeto editable 11"/>
          <p:cNvSpPr/>
          <p:nvPr/>
        </p:nvSpPr>
        <p:spPr>
          <a:xfrm>
            <a:off x="727193" y="1677600"/>
            <a:ext cx="75599" cy="75600"/>
          </a:xfrm>
          <a:prstGeom prst="roundRect">
            <a:avLst/>
          </a:prstGeom>
          <a:solidFill>
            <a:srgbClr val="E8BD55">
              <a:alpha val="100000"/>
            </a:srgbClr>
          </a:solidFill>
          <a:ln w="6350">
            <a:solidFill>
              <a:srgbClr val="E8BD55"/>
            </a:solidFill>
          </a:ln>
        </p:spPr>
      </p:sp>
      <p:sp>
        <p:nvSpPr>
          <p:cNvPr id="12" name="Objeto editable 12"/>
          <p:cNvSpPr/>
          <p:nvPr/>
        </p:nvSpPr>
        <p:spPr>
          <a:xfrm>
            <a:off x="878391" y="1677600"/>
            <a:ext cx="75599" cy="75600"/>
          </a:xfrm>
          <a:prstGeom prst="roundRect">
            <a:avLst/>
          </a:prstGeom>
          <a:solidFill>
            <a:srgbClr val="69C26A">
              <a:alpha val="100000"/>
            </a:srgbClr>
          </a:solidFill>
          <a:ln w="6350">
            <a:solidFill>
              <a:srgbClr val="69C26A"/>
            </a:solidFill>
          </a:ln>
        </p:spPr>
      </p:sp>
      <p:sp>
        <p:nvSpPr>
          <p:cNvPr id="13" name="Objeto editable 13"/>
          <p:cNvSpPr/>
          <p:nvPr/>
        </p:nvSpPr>
        <p:spPr>
          <a:xfrm>
            <a:off x="1115989" y="1630800"/>
            <a:ext cx="7271928" cy="205200"/>
          </a:xfrm>
          <a:prstGeom prst="roundRect">
            <a:avLst/>
          </a:prstGeom>
          <a:solidFill>
            <a:srgbClr val="3C3C3C">
              <a:alpha val="100000"/>
            </a:srgbClr>
          </a:solidFill>
          <a:ln w="6350">
            <a:solidFill>
              <a:srgbClr val="555555"/>
            </a:solidFill>
          </a:ln>
        </p:spPr>
      </p:sp>
      <p:sp>
        <p:nvSpPr>
          <p:cNvPr id="14" name="Objeto editable 14"/>
          <p:cNvSpPr txBox="1"/>
          <p:nvPr/>
        </p:nvSpPr>
        <p:spPr>
          <a:xfrm>
            <a:off x="1277987" y="1666800"/>
            <a:ext cx="6947932" cy="10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850">
                <a:solidFill>
                  <a:srgbClr val="E8E8E8"/>
                </a:solidFill>
                <a:latin typeface="Liberation Sans"/>
              </a:rPr>
              <a:t>ministerioselim.org/iglesias/</a:t>
            </a:r>
            <a:endParaRPr lang="es-PE" sz="850"/>
          </a:p>
        </p:txBody>
      </p:sp>
      <p:sp>
        <p:nvSpPr>
          <p:cNvPr id="15" name="Objeto editable 15"/>
          <p:cNvSpPr/>
          <p:nvPr/>
        </p:nvSpPr>
        <p:spPr>
          <a:xfrm>
            <a:off x="431996" y="1926000"/>
            <a:ext cx="8135920" cy="450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9E5DC"/>
            </a:solidFill>
          </a:ln>
        </p:spPr>
      </p:sp>
      <p:pic>
        <p:nvPicPr>
          <p:cNvPr id="16" name="Imagen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2006600"/>
            <a:ext cx="3429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Objeto editable 17"/>
          <p:cNvSpPr txBox="1"/>
          <p:nvPr/>
        </p:nvSpPr>
        <p:spPr>
          <a:xfrm>
            <a:off x="1277987" y="2055600"/>
            <a:ext cx="4031960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80" b="1">
                <a:solidFill>
                  <a:srgbClr val="242424"/>
                </a:solidFill>
                <a:latin typeface="Liberation Sans"/>
              </a:rPr>
              <a:t>Quiénes Somos     Doctrina     Foros     Iglesias     Materiales</a:t>
            </a:r>
            <a:endParaRPr lang="es-PE" sz="880"/>
          </a:p>
        </p:txBody>
      </p:sp>
      <p:sp>
        <p:nvSpPr>
          <p:cNvPr id="18" name="Objeto editable 18"/>
          <p:cNvSpPr/>
          <p:nvPr/>
        </p:nvSpPr>
        <p:spPr>
          <a:xfrm>
            <a:off x="7127930" y="2019600"/>
            <a:ext cx="1151989" cy="252000"/>
          </a:xfrm>
          <a:prstGeom prst="roundRect">
            <a:avLst/>
          </a:prstGeom>
          <a:solidFill>
            <a:srgbClr val="F2EAD5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9" name="Objeto editable 19"/>
          <p:cNvSpPr txBox="1"/>
          <p:nvPr/>
        </p:nvSpPr>
        <p:spPr>
          <a:xfrm>
            <a:off x="7217929" y="2073600"/>
            <a:ext cx="971990" cy="12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00" b="1">
                <a:solidFill>
                  <a:srgbClr val="C5A059"/>
                </a:solidFill>
                <a:latin typeface="Liberation Sans"/>
              </a:rPr>
              <a:t>INICIAR SESIÓN</a:t>
            </a:r>
            <a:endParaRPr lang="es-PE" sz="800"/>
          </a:p>
        </p:txBody>
      </p:sp>
      <p:sp>
        <p:nvSpPr>
          <p:cNvPr id="20" name="Objeto editable 20"/>
          <p:cNvSpPr/>
          <p:nvPr/>
        </p:nvSpPr>
        <p:spPr>
          <a:xfrm>
            <a:off x="431996" y="2376000"/>
            <a:ext cx="8135920" cy="900000"/>
          </a:xfrm>
          <a:prstGeom prst="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111111"/>
            </a:solidFill>
          </a:ln>
        </p:spPr>
      </p:sp>
      <p:sp>
        <p:nvSpPr>
          <p:cNvPr id="21" name="Objeto editable 21"/>
          <p:cNvSpPr txBox="1"/>
          <p:nvPr/>
        </p:nvSpPr>
        <p:spPr>
          <a:xfrm>
            <a:off x="755993" y="2610000"/>
            <a:ext cx="7487926" cy="27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2400" b="1">
                <a:solidFill>
                  <a:srgbClr val="C5A059"/>
                </a:solidFill>
                <a:latin typeface="Liberation Serif"/>
              </a:rPr>
              <a:t>Nuestras Iglesias</a:t>
            </a:r>
            <a:endParaRPr lang="es-PE" sz="2400"/>
          </a:p>
        </p:txBody>
      </p:sp>
      <p:sp>
        <p:nvSpPr>
          <p:cNvPr id="22" name="Objeto editable 22"/>
          <p:cNvSpPr txBox="1"/>
          <p:nvPr/>
        </p:nvSpPr>
        <p:spPr>
          <a:xfrm>
            <a:off x="1187988" y="2934000"/>
            <a:ext cx="6623935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950">
                <a:solidFill>
                  <a:srgbClr val="FFFFFF"/>
                </a:solidFill>
                <a:latin typeface="Liberation Sans"/>
              </a:rPr>
              <a:t>Encuentra una congregación por país y ciudad</a:t>
            </a:r>
            <a:endParaRPr lang="es-PE" sz="950"/>
          </a:p>
        </p:txBody>
      </p:sp>
      <p:sp>
        <p:nvSpPr>
          <p:cNvPr id="23" name="Objeto editable 23"/>
          <p:cNvSpPr/>
          <p:nvPr/>
        </p:nvSpPr>
        <p:spPr>
          <a:xfrm>
            <a:off x="647994" y="3528000"/>
            <a:ext cx="2429976" cy="223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pic>
        <p:nvPicPr>
          <p:cNvPr id="24" name="Imagen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94" y="3528000"/>
            <a:ext cx="2429976" cy="1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Objeto editable 25"/>
          <p:cNvSpPr txBox="1"/>
          <p:nvPr/>
        </p:nvSpPr>
        <p:spPr>
          <a:xfrm>
            <a:off x="809992" y="4950000"/>
            <a:ext cx="2105979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50" b="1">
                <a:solidFill>
                  <a:srgbClr val="242424"/>
                </a:solidFill>
                <a:latin typeface="Liberation Sans"/>
              </a:rPr>
              <a:t>LIMA, PERÚ</a:t>
            </a:r>
            <a:endParaRPr lang="es-PE" sz="1050"/>
          </a:p>
        </p:txBody>
      </p:sp>
      <p:sp>
        <p:nvSpPr>
          <p:cNvPr id="26" name="Objeto editable 26"/>
          <p:cNvSpPr txBox="1"/>
          <p:nvPr/>
        </p:nvSpPr>
        <p:spPr>
          <a:xfrm>
            <a:off x="863991" y="5220000"/>
            <a:ext cx="1997980" cy="19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50">
                <a:solidFill>
                  <a:srgbClr val="6D6A64"/>
                </a:solidFill>
                <a:latin typeface="Liberation Sans"/>
              </a:rPr>
              <a:t>Ver iglesia, horarios y actividades</a:t>
            </a:r>
            <a:endParaRPr lang="es-PE" sz="850"/>
          </a:p>
        </p:txBody>
      </p:sp>
      <p:sp>
        <p:nvSpPr>
          <p:cNvPr id="27" name="Objeto editable 27"/>
          <p:cNvSpPr txBox="1"/>
          <p:nvPr/>
        </p:nvSpPr>
        <p:spPr>
          <a:xfrm>
            <a:off x="863991" y="5490000"/>
            <a:ext cx="1997980" cy="14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00" b="1">
                <a:solidFill>
                  <a:srgbClr val="C5A059"/>
                </a:solidFill>
                <a:latin typeface="Liberation Sans"/>
              </a:rPr>
              <a:t>ABRIR FICHA  →</a:t>
            </a:r>
            <a:endParaRPr lang="es-PE" sz="800"/>
          </a:p>
        </p:txBody>
      </p:sp>
      <p:sp>
        <p:nvSpPr>
          <p:cNvPr id="28" name="Objeto editable 28"/>
          <p:cNvSpPr/>
          <p:nvPr/>
        </p:nvSpPr>
        <p:spPr>
          <a:xfrm>
            <a:off x="3293968" y="3528000"/>
            <a:ext cx="2429976" cy="223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pic>
        <p:nvPicPr>
          <p:cNvPr id="29" name="Imagen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3968" y="3528000"/>
            <a:ext cx="2429976" cy="1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Objeto editable 30"/>
          <p:cNvSpPr txBox="1"/>
          <p:nvPr/>
        </p:nvSpPr>
        <p:spPr>
          <a:xfrm>
            <a:off x="3455966" y="4950000"/>
            <a:ext cx="2105979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50" b="1">
                <a:solidFill>
                  <a:srgbClr val="242424"/>
                </a:solidFill>
                <a:latin typeface="Liberation Sans"/>
              </a:rPr>
              <a:t>AREQUIPA, PERÚ</a:t>
            </a:r>
            <a:endParaRPr lang="es-PE" sz="1050"/>
          </a:p>
        </p:txBody>
      </p:sp>
      <p:sp>
        <p:nvSpPr>
          <p:cNvPr id="31" name="Objeto editable 31"/>
          <p:cNvSpPr txBox="1"/>
          <p:nvPr/>
        </p:nvSpPr>
        <p:spPr>
          <a:xfrm>
            <a:off x="3509965" y="5220000"/>
            <a:ext cx="1997980" cy="19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50">
                <a:solidFill>
                  <a:srgbClr val="6D6A64"/>
                </a:solidFill>
                <a:latin typeface="Liberation Sans"/>
              </a:rPr>
              <a:t>Ver iglesia, horarios y actividades</a:t>
            </a:r>
            <a:endParaRPr lang="es-PE" sz="850"/>
          </a:p>
        </p:txBody>
      </p:sp>
      <p:sp>
        <p:nvSpPr>
          <p:cNvPr id="32" name="Objeto editable 32"/>
          <p:cNvSpPr txBox="1"/>
          <p:nvPr/>
        </p:nvSpPr>
        <p:spPr>
          <a:xfrm>
            <a:off x="3509965" y="5490000"/>
            <a:ext cx="1997980" cy="14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00" b="1">
                <a:solidFill>
                  <a:srgbClr val="C5A059"/>
                </a:solidFill>
                <a:latin typeface="Liberation Sans"/>
              </a:rPr>
              <a:t>ABRIR FICHA  →</a:t>
            </a:r>
            <a:endParaRPr lang="es-PE" sz="800"/>
          </a:p>
        </p:txBody>
      </p:sp>
      <p:sp>
        <p:nvSpPr>
          <p:cNvPr id="33" name="Objeto editable 33"/>
          <p:cNvSpPr/>
          <p:nvPr/>
        </p:nvSpPr>
        <p:spPr>
          <a:xfrm>
            <a:off x="5939942" y="3528000"/>
            <a:ext cx="2429976" cy="223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pic>
        <p:nvPicPr>
          <p:cNvPr id="34" name="Imagen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942" y="3528000"/>
            <a:ext cx="2429976" cy="1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Objeto editable 35"/>
          <p:cNvSpPr txBox="1"/>
          <p:nvPr/>
        </p:nvSpPr>
        <p:spPr>
          <a:xfrm>
            <a:off x="6101940" y="4950000"/>
            <a:ext cx="2105979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50" b="1">
                <a:solidFill>
                  <a:srgbClr val="242424"/>
                </a:solidFill>
                <a:latin typeface="Liberation Sans"/>
              </a:rPr>
              <a:t>MADRID, ESPAÑA</a:t>
            </a:r>
            <a:endParaRPr lang="es-PE" sz="1050"/>
          </a:p>
        </p:txBody>
      </p:sp>
      <p:sp>
        <p:nvSpPr>
          <p:cNvPr id="36" name="Objeto editable 36"/>
          <p:cNvSpPr txBox="1"/>
          <p:nvPr/>
        </p:nvSpPr>
        <p:spPr>
          <a:xfrm>
            <a:off x="6155939" y="5220000"/>
            <a:ext cx="1997980" cy="19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50">
                <a:solidFill>
                  <a:srgbClr val="6D6A64"/>
                </a:solidFill>
                <a:latin typeface="Liberation Sans"/>
              </a:rPr>
              <a:t>Ver iglesia, horarios y actividades</a:t>
            </a:r>
            <a:endParaRPr lang="es-PE" sz="850"/>
          </a:p>
        </p:txBody>
      </p:sp>
      <p:sp>
        <p:nvSpPr>
          <p:cNvPr id="37" name="Objeto editable 37"/>
          <p:cNvSpPr txBox="1"/>
          <p:nvPr/>
        </p:nvSpPr>
        <p:spPr>
          <a:xfrm>
            <a:off x="6155939" y="5490000"/>
            <a:ext cx="1997980" cy="14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00" b="1">
                <a:solidFill>
                  <a:srgbClr val="C5A059"/>
                </a:solidFill>
                <a:latin typeface="Liberation Sans"/>
              </a:rPr>
              <a:t>ABRIR FICHA  →</a:t>
            </a:r>
            <a:endParaRPr lang="es-PE" sz="800"/>
          </a:p>
        </p:txBody>
      </p:sp>
      <p:sp>
        <p:nvSpPr>
          <p:cNvPr id="38" name="Objeto editable 38"/>
          <p:cNvSpPr txBox="1"/>
          <p:nvPr/>
        </p:nvSpPr>
        <p:spPr>
          <a:xfrm>
            <a:off x="9071911" y="1692000"/>
            <a:ext cx="2447976" cy="27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 b="1">
                <a:solidFill>
                  <a:srgbClr val="87C45B"/>
                </a:solidFill>
                <a:latin typeface="Liberation Sans"/>
              </a:rPr>
              <a:t>MÁS ÚTIL QUE UNA LISTA</a:t>
            </a:r>
            <a:endParaRPr lang="es-PE" sz="1100"/>
          </a:p>
        </p:txBody>
      </p:sp>
      <p:sp>
        <p:nvSpPr>
          <p:cNvPr id="39" name="Objeto editable 39"/>
          <p:cNvSpPr/>
          <p:nvPr/>
        </p:nvSpPr>
        <p:spPr>
          <a:xfrm>
            <a:off x="8999911" y="2124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0" name="Objeto editable 40"/>
          <p:cNvSpPr/>
          <p:nvPr/>
        </p:nvSpPr>
        <p:spPr>
          <a:xfrm>
            <a:off x="8999911" y="2124000"/>
            <a:ext cx="64799" cy="702000"/>
          </a:xfrm>
          <a:prstGeom prst="rect">
            <a:avLst/>
          </a:prstGeom>
          <a:solidFill>
            <a:srgbClr val="87C45B">
              <a:alpha val="100000"/>
            </a:srgbClr>
          </a:solidFill>
          <a:ln w="6350">
            <a:solidFill>
              <a:srgbClr val="87C45B"/>
            </a:solidFill>
          </a:ln>
        </p:spPr>
      </p:sp>
      <p:sp>
        <p:nvSpPr>
          <p:cNvPr id="41" name="Objeto editable 41"/>
          <p:cNvSpPr txBox="1"/>
          <p:nvPr/>
        </p:nvSpPr>
        <p:spPr>
          <a:xfrm>
            <a:off x="9215909" y="2242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Búsqueda visual por ubicación</a:t>
            </a:r>
            <a:endParaRPr lang="es-PE" sz="980"/>
          </a:p>
        </p:txBody>
      </p:sp>
      <p:sp>
        <p:nvSpPr>
          <p:cNvPr id="42" name="Objeto editable 42"/>
          <p:cNvSpPr/>
          <p:nvPr/>
        </p:nvSpPr>
        <p:spPr>
          <a:xfrm>
            <a:off x="8999911" y="3042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3" name="Objeto editable 43"/>
          <p:cNvSpPr/>
          <p:nvPr/>
        </p:nvSpPr>
        <p:spPr>
          <a:xfrm>
            <a:off x="8999911" y="3042000"/>
            <a:ext cx="64799" cy="702000"/>
          </a:xfrm>
          <a:prstGeom prst="rect">
            <a:avLst/>
          </a:prstGeom>
          <a:solidFill>
            <a:srgbClr val="87C45B">
              <a:alpha val="100000"/>
            </a:srgbClr>
          </a:solidFill>
          <a:ln w="6350">
            <a:solidFill>
              <a:srgbClr val="87C45B"/>
            </a:solidFill>
          </a:ln>
        </p:spPr>
      </p:sp>
      <p:sp>
        <p:nvSpPr>
          <p:cNvPr id="44" name="Objeto editable 44"/>
          <p:cNvSpPr txBox="1"/>
          <p:nvPr/>
        </p:nvSpPr>
        <p:spPr>
          <a:xfrm>
            <a:off x="9215909" y="3160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Una estructura común para toda la red</a:t>
            </a:r>
            <a:endParaRPr lang="es-PE" sz="980"/>
          </a:p>
        </p:txBody>
      </p:sp>
      <p:sp>
        <p:nvSpPr>
          <p:cNvPr id="45" name="Objeto editable 45"/>
          <p:cNvSpPr/>
          <p:nvPr/>
        </p:nvSpPr>
        <p:spPr>
          <a:xfrm>
            <a:off x="8999911" y="3960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6" name="Objeto editable 46"/>
          <p:cNvSpPr/>
          <p:nvPr/>
        </p:nvSpPr>
        <p:spPr>
          <a:xfrm>
            <a:off x="8999911" y="3960000"/>
            <a:ext cx="64799" cy="702000"/>
          </a:xfrm>
          <a:prstGeom prst="rect">
            <a:avLst/>
          </a:prstGeom>
          <a:solidFill>
            <a:srgbClr val="87C45B">
              <a:alpha val="100000"/>
            </a:srgbClr>
          </a:solidFill>
          <a:ln w="6350">
            <a:solidFill>
              <a:srgbClr val="87C45B"/>
            </a:solidFill>
          </a:ln>
        </p:spPr>
      </p:sp>
      <p:sp>
        <p:nvSpPr>
          <p:cNvPr id="47" name="Objeto editable 47"/>
          <p:cNvSpPr txBox="1"/>
          <p:nvPr/>
        </p:nvSpPr>
        <p:spPr>
          <a:xfrm>
            <a:off x="9215909" y="4078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Preparado para añadir nuevas ciudades</a:t>
            </a:r>
            <a:endParaRPr lang="es-PE" sz="98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F7F3EA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6D6A64"/>
                </a:solidFill>
                <a:latin typeface="Liberation Sans"/>
              </a:rPr>
              <a:t>7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RECORRIDO VISUAL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242424"/>
                </a:solidFill>
                <a:latin typeface="Liberation Serif"/>
              </a:rPr>
              <a:t>Miembros y líderes encuentran sus herramientas en un solo lugar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sp>
        <p:nvSpPr>
          <p:cNvPr id="8" name="Objeto editable 8"/>
          <p:cNvSpPr/>
          <p:nvPr/>
        </p:nvSpPr>
        <p:spPr>
          <a:xfrm>
            <a:off x="431996" y="1548000"/>
            <a:ext cx="8135920" cy="457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D4D0C8"/>
            </a:solidFill>
          </a:ln>
        </p:spPr>
      </p:sp>
      <p:sp>
        <p:nvSpPr>
          <p:cNvPr id="9" name="Objeto editable 9"/>
          <p:cNvSpPr/>
          <p:nvPr/>
        </p:nvSpPr>
        <p:spPr>
          <a:xfrm>
            <a:off x="431996" y="1548000"/>
            <a:ext cx="8135920" cy="378000"/>
          </a:xfrm>
          <a:prstGeom prst="roundRect">
            <a:avLst/>
          </a:prstGeom>
          <a:solidFill>
            <a:srgbClr val="262626">
              <a:alpha val="100000"/>
            </a:srgbClr>
          </a:solidFill>
          <a:ln w="6350">
            <a:solidFill>
              <a:srgbClr val="262626"/>
            </a:solidFill>
          </a:ln>
        </p:spPr>
      </p:sp>
      <p:sp>
        <p:nvSpPr>
          <p:cNvPr id="10" name="Objeto editable 10"/>
          <p:cNvSpPr/>
          <p:nvPr/>
        </p:nvSpPr>
        <p:spPr>
          <a:xfrm>
            <a:off x="575994" y="1677600"/>
            <a:ext cx="75599" cy="75600"/>
          </a:xfrm>
          <a:prstGeom prst="roundRect">
            <a:avLst/>
          </a:prstGeom>
          <a:solidFill>
            <a:srgbClr val="E36B62">
              <a:alpha val="100000"/>
            </a:srgbClr>
          </a:solidFill>
          <a:ln w="6350">
            <a:solidFill>
              <a:srgbClr val="E36B62"/>
            </a:solidFill>
          </a:ln>
        </p:spPr>
      </p:sp>
      <p:sp>
        <p:nvSpPr>
          <p:cNvPr id="11" name="Objeto editable 11"/>
          <p:cNvSpPr/>
          <p:nvPr/>
        </p:nvSpPr>
        <p:spPr>
          <a:xfrm>
            <a:off x="727193" y="1677600"/>
            <a:ext cx="75599" cy="75600"/>
          </a:xfrm>
          <a:prstGeom prst="roundRect">
            <a:avLst/>
          </a:prstGeom>
          <a:solidFill>
            <a:srgbClr val="E8BD55">
              <a:alpha val="100000"/>
            </a:srgbClr>
          </a:solidFill>
          <a:ln w="6350">
            <a:solidFill>
              <a:srgbClr val="E8BD55"/>
            </a:solidFill>
          </a:ln>
        </p:spPr>
      </p:sp>
      <p:sp>
        <p:nvSpPr>
          <p:cNvPr id="12" name="Objeto editable 12"/>
          <p:cNvSpPr/>
          <p:nvPr/>
        </p:nvSpPr>
        <p:spPr>
          <a:xfrm>
            <a:off x="878391" y="1677600"/>
            <a:ext cx="75599" cy="75600"/>
          </a:xfrm>
          <a:prstGeom prst="roundRect">
            <a:avLst/>
          </a:prstGeom>
          <a:solidFill>
            <a:srgbClr val="69C26A">
              <a:alpha val="100000"/>
            </a:srgbClr>
          </a:solidFill>
          <a:ln w="6350">
            <a:solidFill>
              <a:srgbClr val="69C26A"/>
            </a:solidFill>
          </a:ln>
        </p:spPr>
      </p:sp>
      <p:sp>
        <p:nvSpPr>
          <p:cNvPr id="13" name="Objeto editable 13"/>
          <p:cNvSpPr/>
          <p:nvPr/>
        </p:nvSpPr>
        <p:spPr>
          <a:xfrm>
            <a:off x="1115989" y="1630800"/>
            <a:ext cx="7271928" cy="205200"/>
          </a:xfrm>
          <a:prstGeom prst="roundRect">
            <a:avLst/>
          </a:prstGeom>
          <a:solidFill>
            <a:srgbClr val="3C3C3C">
              <a:alpha val="100000"/>
            </a:srgbClr>
          </a:solidFill>
          <a:ln w="6350">
            <a:solidFill>
              <a:srgbClr val="555555"/>
            </a:solidFill>
          </a:ln>
        </p:spPr>
      </p:sp>
      <p:sp>
        <p:nvSpPr>
          <p:cNvPr id="14" name="Objeto editable 14"/>
          <p:cNvSpPr txBox="1"/>
          <p:nvPr/>
        </p:nvSpPr>
        <p:spPr>
          <a:xfrm>
            <a:off x="1277987" y="1666800"/>
            <a:ext cx="6947932" cy="10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850">
                <a:solidFill>
                  <a:srgbClr val="E8E8E8"/>
                </a:solidFill>
                <a:latin typeface="Liberation Sans"/>
              </a:rPr>
              <a:t>ministerioselim.org/miembros/dashboard/</a:t>
            </a:r>
            <a:endParaRPr lang="es-PE" sz="850"/>
          </a:p>
        </p:txBody>
      </p:sp>
      <p:sp>
        <p:nvSpPr>
          <p:cNvPr id="15" name="Objeto editable 15"/>
          <p:cNvSpPr/>
          <p:nvPr/>
        </p:nvSpPr>
        <p:spPr>
          <a:xfrm>
            <a:off x="431996" y="1926000"/>
            <a:ext cx="8135920" cy="450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9E5DC"/>
            </a:solidFill>
          </a:ln>
        </p:spPr>
      </p:sp>
      <p:pic>
        <p:nvPicPr>
          <p:cNvPr id="16" name="Imagen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2006600"/>
            <a:ext cx="3429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Objeto editable 17"/>
          <p:cNvSpPr txBox="1"/>
          <p:nvPr/>
        </p:nvSpPr>
        <p:spPr>
          <a:xfrm>
            <a:off x="1277987" y="2055600"/>
            <a:ext cx="4031960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80" b="1">
                <a:solidFill>
                  <a:srgbClr val="242424"/>
                </a:solidFill>
                <a:latin typeface="Liberation Sans"/>
              </a:rPr>
              <a:t>Quiénes Somos     Doctrina     Foros     Iglesias     Materiales</a:t>
            </a:r>
            <a:endParaRPr lang="es-PE" sz="880"/>
          </a:p>
        </p:txBody>
      </p:sp>
      <p:sp>
        <p:nvSpPr>
          <p:cNvPr id="18" name="Objeto editable 18"/>
          <p:cNvSpPr/>
          <p:nvPr/>
        </p:nvSpPr>
        <p:spPr>
          <a:xfrm>
            <a:off x="7127930" y="2019600"/>
            <a:ext cx="1151989" cy="252000"/>
          </a:xfrm>
          <a:prstGeom prst="roundRect">
            <a:avLst/>
          </a:prstGeom>
          <a:solidFill>
            <a:srgbClr val="F2EAD5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9" name="Objeto editable 19"/>
          <p:cNvSpPr txBox="1"/>
          <p:nvPr/>
        </p:nvSpPr>
        <p:spPr>
          <a:xfrm>
            <a:off x="7217929" y="2073600"/>
            <a:ext cx="971990" cy="12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800" b="1">
                <a:solidFill>
                  <a:srgbClr val="C5A059"/>
                </a:solidFill>
                <a:latin typeface="Liberation Sans"/>
              </a:rPr>
              <a:t>INICIAR SESIÓN</a:t>
            </a:r>
            <a:endParaRPr lang="es-PE" sz="800"/>
          </a:p>
        </p:txBody>
      </p:sp>
      <p:sp>
        <p:nvSpPr>
          <p:cNvPr id="20" name="Objeto editable 20"/>
          <p:cNvSpPr/>
          <p:nvPr/>
        </p:nvSpPr>
        <p:spPr>
          <a:xfrm>
            <a:off x="431996" y="2376000"/>
            <a:ext cx="8135920" cy="1044000"/>
          </a:xfrm>
          <a:prstGeom prst="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111111"/>
            </a:solidFill>
          </a:ln>
        </p:spPr>
      </p:sp>
      <p:sp>
        <p:nvSpPr>
          <p:cNvPr id="21" name="Objeto editable 21"/>
          <p:cNvSpPr txBox="1"/>
          <p:nvPr/>
        </p:nvSpPr>
        <p:spPr>
          <a:xfrm>
            <a:off x="737993" y="2628000"/>
            <a:ext cx="4679954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100" b="1">
                <a:solidFill>
                  <a:srgbClr val="FFFFFF"/>
                </a:solidFill>
                <a:latin typeface="Liberation Serif"/>
              </a:rPr>
              <a:t>Bienvenido, Samuel</a:t>
            </a:r>
            <a:endParaRPr lang="es-PE" sz="2100"/>
          </a:p>
        </p:txBody>
      </p:sp>
      <p:sp>
        <p:nvSpPr>
          <p:cNvPr id="22" name="Objeto editable 22"/>
          <p:cNvSpPr txBox="1"/>
          <p:nvPr/>
        </p:nvSpPr>
        <p:spPr>
          <a:xfrm>
            <a:off x="737993" y="2934000"/>
            <a:ext cx="4859952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950">
                <a:solidFill>
                  <a:srgbClr val="E7D7AA"/>
                </a:solidFill>
                <a:latin typeface="Liberation Sans"/>
              </a:rPr>
              <a:t>Tu espacio para aprender, participar y servir</a:t>
            </a:r>
            <a:endParaRPr lang="es-PE" sz="950"/>
          </a:p>
        </p:txBody>
      </p:sp>
      <p:pic>
        <p:nvPicPr>
          <p:cNvPr id="23" name="Imagen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927" y="2538000"/>
            <a:ext cx="791992" cy="7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Objeto editable 24"/>
          <p:cNvSpPr/>
          <p:nvPr/>
        </p:nvSpPr>
        <p:spPr>
          <a:xfrm>
            <a:off x="665993" y="3654000"/>
            <a:ext cx="2357977" cy="88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5" name="Objeto editable 25"/>
          <p:cNvSpPr/>
          <p:nvPr/>
        </p:nvSpPr>
        <p:spPr>
          <a:xfrm>
            <a:off x="665993" y="3654000"/>
            <a:ext cx="305997" cy="882000"/>
          </a:xfrm>
          <a:prstGeom prst="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26" name="Objeto editable 26"/>
          <p:cNvSpPr txBox="1"/>
          <p:nvPr/>
        </p:nvSpPr>
        <p:spPr>
          <a:xfrm>
            <a:off x="1115989" y="3805200"/>
            <a:ext cx="1691983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MI PERFIL</a:t>
            </a:r>
            <a:endParaRPr lang="es-PE" sz="1000"/>
          </a:p>
        </p:txBody>
      </p:sp>
      <p:sp>
        <p:nvSpPr>
          <p:cNvPr id="27" name="Objeto editable 27"/>
          <p:cNvSpPr txBox="1"/>
          <p:nvPr/>
        </p:nvSpPr>
        <p:spPr>
          <a:xfrm>
            <a:off x="1115989" y="4057200"/>
            <a:ext cx="1691983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80">
                <a:solidFill>
                  <a:srgbClr val="6D6A64"/>
                </a:solidFill>
                <a:latin typeface="Liberation Sans"/>
              </a:rPr>
              <a:t>Datos y participación</a:t>
            </a:r>
            <a:endParaRPr lang="es-PE" sz="880"/>
          </a:p>
        </p:txBody>
      </p:sp>
      <p:sp>
        <p:nvSpPr>
          <p:cNvPr id="28" name="Objeto editable 28"/>
          <p:cNvSpPr/>
          <p:nvPr/>
        </p:nvSpPr>
        <p:spPr>
          <a:xfrm>
            <a:off x="3257968" y="3654000"/>
            <a:ext cx="2357977" cy="88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9" name="Objeto editable 29"/>
          <p:cNvSpPr/>
          <p:nvPr/>
        </p:nvSpPr>
        <p:spPr>
          <a:xfrm>
            <a:off x="3257968" y="3654000"/>
            <a:ext cx="305997" cy="882000"/>
          </a:xfrm>
          <a:prstGeom prst="rect">
            <a:avLst/>
          </a:prstGeom>
          <a:solidFill>
            <a:srgbClr val="87C45B">
              <a:alpha val="100000"/>
            </a:srgbClr>
          </a:solidFill>
          <a:ln w="6350">
            <a:solidFill>
              <a:srgbClr val="87C45B"/>
            </a:solidFill>
          </a:ln>
        </p:spPr>
      </p:sp>
      <p:sp>
        <p:nvSpPr>
          <p:cNvPr id="30" name="Objeto editable 30"/>
          <p:cNvSpPr txBox="1"/>
          <p:nvPr/>
        </p:nvSpPr>
        <p:spPr>
          <a:xfrm>
            <a:off x="3707964" y="3805200"/>
            <a:ext cx="1691983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87C45B"/>
                </a:solidFill>
                <a:latin typeface="Liberation Sans"/>
              </a:rPr>
              <a:t>DOCTRINA</a:t>
            </a:r>
            <a:endParaRPr lang="es-PE" sz="1000"/>
          </a:p>
        </p:txBody>
      </p:sp>
      <p:sp>
        <p:nvSpPr>
          <p:cNvPr id="31" name="Objeto editable 31"/>
          <p:cNvSpPr txBox="1"/>
          <p:nvPr/>
        </p:nvSpPr>
        <p:spPr>
          <a:xfrm>
            <a:off x="3707964" y="4057200"/>
            <a:ext cx="1691983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80">
                <a:solidFill>
                  <a:srgbClr val="6D6A64"/>
                </a:solidFill>
                <a:latin typeface="Liberation Sans"/>
              </a:rPr>
              <a:t>Continuar aprendiendo</a:t>
            </a:r>
            <a:endParaRPr lang="es-PE" sz="880"/>
          </a:p>
        </p:txBody>
      </p:sp>
      <p:sp>
        <p:nvSpPr>
          <p:cNvPr id="32" name="Objeto editable 32"/>
          <p:cNvSpPr/>
          <p:nvPr/>
        </p:nvSpPr>
        <p:spPr>
          <a:xfrm>
            <a:off x="5849942" y="3654000"/>
            <a:ext cx="2357977" cy="88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3" name="Objeto editable 33"/>
          <p:cNvSpPr/>
          <p:nvPr/>
        </p:nvSpPr>
        <p:spPr>
          <a:xfrm>
            <a:off x="5849942" y="3654000"/>
            <a:ext cx="305997" cy="882000"/>
          </a:xfrm>
          <a:prstGeom prst="rect">
            <a:avLst/>
          </a:prstGeom>
          <a:solidFill>
            <a:srgbClr val="36BBD3">
              <a:alpha val="100000"/>
            </a:srgbClr>
          </a:solidFill>
          <a:ln w="6350">
            <a:solidFill>
              <a:srgbClr val="36BBD3"/>
            </a:solidFill>
          </a:ln>
        </p:spPr>
      </p:sp>
      <p:sp>
        <p:nvSpPr>
          <p:cNvPr id="34" name="Objeto editable 34"/>
          <p:cNvSpPr txBox="1"/>
          <p:nvPr/>
        </p:nvSpPr>
        <p:spPr>
          <a:xfrm>
            <a:off x="6299938" y="3805200"/>
            <a:ext cx="1691983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36BBD3"/>
                </a:solidFill>
                <a:latin typeface="Liberation Sans"/>
              </a:rPr>
              <a:t>DIRECTORIO</a:t>
            </a:r>
            <a:endParaRPr lang="es-PE" sz="1000"/>
          </a:p>
        </p:txBody>
      </p:sp>
      <p:sp>
        <p:nvSpPr>
          <p:cNvPr id="35" name="Objeto editable 35"/>
          <p:cNvSpPr txBox="1"/>
          <p:nvPr/>
        </p:nvSpPr>
        <p:spPr>
          <a:xfrm>
            <a:off x="6299938" y="4057200"/>
            <a:ext cx="1691983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80">
                <a:solidFill>
                  <a:srgbClr val="6D6A64"/>
                </a:solidFill>
                <a:latin typeface="Liberation Sans"/>
              </a:rPr>
              <a:t>Encontrar una iglesia</a:t>
            </a:r>
            <a:endParaRPr lang="es-PE" sz="880"/>
          </a:p>
        </p:txBody>
      </p:sp>
      <p:sp>
        <p:nvSpPr>
          <p:cNvPr id="36" name="Objeto editable 36"/>
          <p:cNvSpPr/>
          <p:nvPr/>
        </p:nvSpPr>
        <p:spPr>
          <a:xfrm>
            <a:off x="665993" y="4734000"/>
            <a:ext cx="2357977" cy="88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7" name="Objeto editable 37"/>
          <p:cNvSpPr/>
          <p:nvPr/>
        </p:nvSpPr>
        <p:spPr>
          <a:xfrm>
            <a:off x="665993" y="4734000"/>
            <a:ext cx="305997" cy="882000"/>
          </a:xfrm>
          <a:prstGeom prst="rect">
            <a:avLst/>
          </a:prstGeom>
          <a:solidFill>
            <a:srgbClr val="A94A43">
              <a:alpha val="100000"/>
            </a:srgbClr>
          </a:solidFill>
          <a:ln w="6350">
            <a:solidFill>
              <a:srgbClr val="A94A43"/>
            </a:solidFill>
          </a:ln>
        </p:spPr>
      </p:sp>
      <p:sp>
        <p:nvSpPr>
          <p:cNvPr id="38" name="Objeto editable 38"/>
          <p:cNvSpPr txBox="1"/>
          <p:nvPr/>
        </p:nvSpPr>
        <p:spPr>
          <a:xfrm>
            <a:off x="1115989" y="4885200"/>
            <a:ext cx="1691983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A94A43"/>
                </a:solidFill>
                <a:latin typeface="Liberation Sans"/>
              </a:rPr>
              <a:t>FOROS</a:t>
            </a:r>
            <a:endParaRPr lang="es-PE" sz="1000"/>
          </a:p>
        </p:txBody>
      </p:sp>
      <p:sp>
        <p:nvSpPr>
          <p:cNvPr id="39" name="Objeto editable 39"/>
          <p:cNvSpPr txBox="1"/>
          <p:nvPr/>
        </p:nvSpPr>
        <p:spPr>
          <a:xfrm>
            <a:off x="1115989" y="5137200"/>
            <a:ext cx="1691983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80">
                <a:solidFill>
                  <a:srgbClr val="6D6A64"/>
                </a:solidFill>
                <a:latin typeface="Liberation Sans"/>
              </a:rPr>
              <a:t>Conversar con la comunidad</a:t>
            </a:r>
            <a:endParaRPr lang="es-PE" sz="880"/>
          </a:p>
        </p:txBody>
      </p:sp>
      <p:sp>
        <p:nvSpPr>
          <p:cNvPr id="40" name="Objeto editable 40"/>
          <p:cNvSpPr/>
          <p:nvPr/>
        </p:nvSpPr>
        <p:spPr>
          <a:xfrm>
            <a:off x="3257968" y="4734000"/>
            <a:ext cx="2357977" cy="88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1" name="Objeto editable 41"/>
          <p:cNvSpPr/>
          <p:nvPr/>
        </p:nvSpPr>
        <p:spPr>
          <a:xfrm>
            <a:off x="3257968" y="4734000"/>
            <a:ext cx="305997" cy="882000"/>
          </a:xfrm>
          <a:prstGeom prst="rect">
            <a:avLst/>
          </a:prstGeom>
          <a:solidFill>
            <a:srgbClr val="7B5EA7">
              <a:alpha val="100000"/>
            </a:srgbClr>
          </a:solidFill>
          <a:ln w="6350">
            <a:solidFill>
              <a:srgbClr val="7B5EA7"/>
            </a:solidFill>
          </a:ln>
        </p:spPr>
      </p:sp>
      <p:sp>
        <p:nvSpPr>
          <p:cNvPr id="42" name="Objeto editable 42"/>
          <p:cNvSpPr txBox="1"/>
          <p:nvPr/>
        </p:nvSpPr>
        <p:spPr>
          <a:xfrm>
            <a:off x="3707964" y="4885200"/>
            <a:ext cx="1691983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7B5EA7"/>
                </a:solidFill>
                <a:latin typeface="Liberation Sans"/>
              </a:rPr>
              <a:t>EVENTOS</a:t>
            </a:r>
            <a:endParaRPr lang="es-PE" sz="1000"/>
          </a:p>
        </p:txBody>
      </p:sp>
      <p:sp>
        <p:nvSpPr>
          <p:cNvPr id="43" name="Objeto editable 43"/>
          <p:cNvSpPr txBox="1"/>
          <p:nvPr/>
        </p:nvSpPr>
        <p:spPr>
          <a:xfrm>
            <a:off x="3707964" y="5137200"/>
            <a:ext cx="1691983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80">
                <a:solidFill>
                  <a:srgbClr val="6D6A64"/>
                </a:solidFill>
                <a:latin typeface="Liberation Sans"/>
              </a:rPr>
              <a:t>Próximas actividades</a:t>
            </a:r>
            <a:endParaRPr lang="es-PE" sz="880"/>
          </a:p>
        </p:txBody>
      </p:sp>
      <p:sp>
        <p:nvSpPr>
          <p:cNvPr id="44" name="Objeto editable 44"/>
          <p:cNvSpPr/>
          <p:nvPr/>
        </p:nvSpPr>
        <p:spPr>
          <a:xfrm>
            <a:off x="5849942" y="4734000"/>
            <a:ext cx="2357977" cy="88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5" name="Objeto editable 45"/>
          <p:cNvSpPr/>
          <p:nvPr/>
        </p:nvSpPr>
        <p:spPr>
          <a:xfrm>
            <a:off x="5849942" y="4734000"/>
            <a:ext cx="305997" cy="882000"/>
          </a:xfrm>
          <a:prstGeom prst="rect">
            <a:avLst/>
          </a:prstGeom>
          <a:solidFill>
            <a:srgbClr val="3F6D78">
              <a:alpha val="100000"/>
            </a:srgbClr>
          </a:solidFill>
          <a:ln w="6350">
            <a:solidFill>
              <a:srgbClr val="3F6D78"/>
            </a:solidFill>
          </a:ln>
        </p:spPr>
      </p:sp>
      <p:sp>
        <p:nvSpPr>
          <p:cNvPr id="46" name="Objeto editable 46"/>
          <p:cNvSpPr txBox="1"/>
          <p:nvPr/>
        </p:nvSpPr>
        <p:spPr>
          <a:xfrm>
            <a:off x="6299938" y="4885200"/>
            <a:ext cx="1691983" cy="162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3F6D78"/>
                </a:solidFill>
                <a:latin typeface="Liberation Sans"/>
              </a:rPr>
              <a:t>MATERIALES</a:t>
            </a:r>
            <a:endParaRPr lang="es-PE" sz="1000"/>
          </a:p>
        </p:txBody>
      </p:sp>
      <p:sp>
        <p:nvSpPr>
          <p:cNvPr id="47" name="Objeto editable 47"/>
          <p:cNvSpPr txBox="1"/>
          <p:nvPr/>
        </p:nvSpPr>
        <p:spPr>
          <a:xfrm>
            <a:off x="6299938" y="5137200"/>
            <a:ext cx="1691983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80">
                <a:solidFill>
                  <a:srgbClr val="6D6A64"/>
                </a:solidFill>
                <a:latin typeface="Liberation Sans"/>
              </a:rPr>
              <a:t>Recursos para servir</a:t>
            </a:r>
            <a:endParaRPr lang="es-PE" sz="880"/>
          </a:p>
        </p:txBody>
      </p:sp>
      <p:sp>
        <p:nvSpPr>
          <p:cNvPr id="48" name="Objeto editable 48"/>
          <p:cNvSpPr txBox="1"/>
          <p:nvPr/>
        </p:nvSpPr>
        <p:spPr>
          <a:xfrm>
            <a:off x="9071911" y="1692000"/>
            <a:ext cx="2447976" cy="27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 b="1">
                <a:solidFill>
                  <a:srgbClr val="A94A43"/>
                </a:solidFill>
                <a:latin typeface="Liberation Sans"/>
              </a:rPr>
              <a:t>VALOR COTIDIANO</a:t>
            </a:r>
            <a:endParaRPr lang="es-PE" sz="1100"/>
          </a:p>
        </p:txBody>
      </p:sp>
      <p:sp>
        <p:nvSpPr>
          <p:cNvPr id="49" name="Objeto editable 49"/>
          <p:cNvSpPr/>
          <p:nvPr/>
        </p:nvSpPr>
        <p:spPr>
          <a:xfrm>
            <a:off x="8999911" y="2124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50" name="Objeto editable 50"/>
          <p:cNvSpPr/>
          <p:nvPr/>
        </p:nvSpPr>
        <p:spPr>
          <a:xfrm>
            <a:off x="8999911" y="2124000"/>
            <a:ext cx="64799" cy="702000"/>
          </a:xfrm>
          <a:prstGeom prst="rect">
            <a:avLst/>
          </a:prstGeom>
          <a:solidFill>
            <a:srgbClr val="A94A43">
              <a:alpha val="100000"/>
            </a:srgbClr>
          </a:solidFill>
          <a:ln w="6350">
            <a:solidFill>
              <a:srgbClr val="A94A43"/>
            </a:solidFill>
          </a:ln>
        </p:spPr>
      </p:sp>
      <p:sp>
        <p:nvSpPr>
          <p:cNvPr id="51" name="Objeto editable 51"/>
          <p:cNvSpPr txBox="1"/>
          <p:nvPr/>
        </p:nvSpPr>
        <p:spPr>
          <a:xfrm>
            <a:off x="9215909" y="2242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Acceso según el rol de cada persona</a:t>
            </a:r>
            <a:endParaRPr lang="es-PE" sz="980"/>
          </a:p>
        </p:txBody>
      </p:sp>
      <p:sp>
        <p:nvSpPr>
          <p:cNvPr id="52" name="Objeto editable 52"/>
          <p:cNvSpPr/>
          <p:nvPr/>
        </p:nvSpPr>
        <p:spPr>
          <a:xfrm>
            <a:off x="8999911" y="3042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53" name="Objeto editable 53"/>
          <p:cNvSpPr/>
          <p:nvPr/>
        </p:nvSpPr>
        <p:spPr>
          <a:xfrm>
            <a:off x="8999911" y="3042000"/>
            <a:ext cx="64799" cy="702000"/>
          </a:xfrm>
          <a:prstGeom prst="rect">
            <a:avLst/>
          </a:prstGeom>
          <a:solidFill>
            <a:srgbClr val="A94A43">
              <a:alpha val="100000"/>
            </a:srgbClr>
          </a:solidFill>
          <a:ln w="6350">
            <a:solidFill>
              <a:srgbClr val="A94A43"/>
            </a:solidFill>
          </a:ln>
        </p:spPr>
      </p:sp>
      <p:sp>
        <p:nvSpPr>
          <p:cNvPr id="54" name="Objeto editable 54"/>
          <p:cNvSpPr txBox="1"/>
          <p:nvPr/>
        </p:nvSpPr>
        <p:spPr>
          <a:xfrm>
            <a:off x="9215909" y="3160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Formación, comunidad y recursos conectados</a:t>
            </a:r>
            <a:endParaRPr lang="es-PE" sz="980"/>
          </a:p>
        </p:txBody>
      </p:sp>
      <p:sp>
        <p:nvSpPr>
          <p:cNvPr id="55" name="Objeto editable 55"/>
          <p:cNvSpPr/>
          <p:nvPr/>
        </p:nvSpPr>
        <p:spPr>
          <a:xfrm>
            <a:off x="8999911" y="3960000"/>
            <a:ext cx="2555975" cy="702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56" name="Objeto editable 56"/>
          <p:cNvSpPr/>
          <p:nvPr/>
        </p:nvSpPr>
        <p:spPr>
          <a:xfrm>
            <a:off x="8999911" y="3960000"/>
            <a:ext cx="64799" cy="702000"/>
          </a:xfrm>
          <a:prstGeom prst="rect">
            <a:avLst/>
          </a:prstGeom>
          <a:solidFill>
            <a:srgbClr val="A94A43">
              <a:alpha val="100000"/>
            </a:srgbClr>
          </a:solidFill>
          <a:ln w="6350">
            <a:solidFill>
              <a:srgbClr val="A94A43"/>
            </a:solidFill>
          </a:ln>
        </p:spPr>
      </p:sp>
      <p:sp>
        <p:nvSpPr>
          <p:cNvPr id="57" name="Objeto editable 57"/>
          <p:cNvSpPr txBox="1"/>
          <p:nvPr/>
        </p:nvSpPr>
        <p:spPr>
          <a:xfrm>
            <a:off x="9215909" y="4078800"/>
            <a:ext cx="2123979" cy="43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Base para participación y seguimiento</a:t>
            </a:r>
            <a:endParaRPr lang="es-PE" sz="98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111111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FFFFFF"/>
                </a:solidFill>
                <a:latin typeface="Liberation Sans"/>
              </a:rPr>
              <a:t>8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PUNTO DE PARTIDA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FFFFFF"/>
                </a:solidFill>
                <a:latin typeface="Liberation Serif"/>
              </a:rPr>
              <a:t>Lo que el sitio actual ya hace bien</a:t>
            </a:r>
            <a:endParaRPr lang="es-PE" sz="2700"/>
          </a:p>
        </p:txBody>
      </p:sp>
      <p:sp>
        <p:nvSpPr>
          <p:cNvPr id="7" name="Objeto editable 7"/>
          <p:cNvSpPr txBox="1"/>
          <p:nvPr/>
        </p:nvSpPr>
        <p:spPr>
          <a:xfrm>
            <a:off x="575994" y="1152000"/>
            <a:ext cx="10439897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200">
                <a:solidFill>
                  <a:srgbClr val="FFFFFF"/>
                </a:solidFill>
                <a:latin typeface="Liberation Sans"/>
              </a:rPr>
              <a:t>Una presencia pública centrada en identidad, predicación y conexión congregacional</a:t>
            </a:r>
            <a:endParaRPr lang="es-PE" sz="1200"/>
          </a:p>
        </p:txBody>
      </p:sp>
      <p:sp>
        <p:nvSpPr>
          <p:cNvPr id="8" name="Objeto editable 8"/>
          <p:cNvSpPr/>
          <p:nvPr/>
        </p:nvSpPr>
        <p:spPr>
          <a:xfrm>
            <a:off x="575994" y="1440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sp>
        <p:nvSpPr>
          <p:cNvPr id="9" name="Objeto editable 9"/>
          <p:cNvSpPr/>
          <p:nvPr/>
        </p:nvSpPr>
        <p:spPr>
          <a:xfrm>
            <a:off x="575994" y="1872000"/>
            <a:ext cx="3275968" cy="1188000"/>
          </a:xfrm>
          <a:prstGeom prst="roundRect">
            <a:avLst/>
          </a:prstGeom>
          <a:solidFill>
            <a:srgbClr val="202020">
              <a:alpha val="100000"/>
            </a:srgbClr>
          </a:solidFill>
          <a:ln w="6350">
            <a:solidFill>
              <a:srgbClr val="3A3A3A"/>
            </a:solidFill>
          </a:ln>
        </p:spPr>
      </p:sp>
      <p:sp>
        <p:nvSpPr>
          <p:cNvPr id="10" name="Objeto editable 10"/>
          <p:cNvSpPr txBox="1"/>
          <p:nvPr/>
        </p:nvSpPr>
        <p:spPr>
          <a:xfrm>
            <a:off x="791992" y="2052000"/>
            <a:ext cx="2843972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 b="1">
                <a:solidFill>
                  <a:srgbClr val="C5A059"/>
                </a:solidFill>
                <a:latin typeface="Liberation Sans"/>
              </a:rPr>
              <a:t>IDENTIDAD</a:t>
            </a:r>
            <a:endParaRPr lang="es-PE" sz="1300"/>
          </a:p>
        </p:txBody>
      </p:sp>
      <p:sp>
        <p:nvSpPr>
          <p:cNvPr id="11" name="Objeto editable 11"/>
          <p:cNvSpPr txBox="1"/>
          <p:nvPr/>
        </p:nvSpPr>
        <p:spPr>
          <a:xfrm>
            <a:off x="791992" y="2358000"/>
            <a:ext cx="2843972" cy="46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>
                <a:solidFill>
                  <a:srgbClr val="FFFFFF"/>
                </a:solidFill>
                <a:latin typeface="Liberation Sans"/>
              </a:rPr>
              <a:t>Historia, misión, visión, credo y liderazgo.</a:t>
            </a:r>
            <a:endParaRPr lang="es-PE" sz="1100"/>
          </a:p>
        </p:txBody>
      </p:sp>
      <p:sp>
        <p:nvSpPr>
          <p:cNvPr id="12" name="Objeto editable 12"/>
          <p:cNvSpPr/>
          <p:nvPr/>
        </p:nvSpPr>
        <p:spPr>
          <a:xfrm>
            <a:off x="4211959" y="1872000"/>
            <a:ext cx="3275968" cy="1188000"/>
          </a:xfrm>
          <a:prstGeom prst="roundRect">
            <a:avLst/>
          </a:prstGeom>
          <a:solidFill>
            <a:srgbClr val="202020">
              <a:alpha val="100000"/>
            </a:srgbClr>
          </a:solidFill>
          <a:ln w="6350">
            <a:solidFill>
              <a:srgbClr val="3A3A3A"/>
            </a:solidFill>
          </a:ln>
        </p:spPr>
      </p:sp>
      <p:sp>
        <p:nvSpPr>
          <p:cNvPr id="13" name="Objeto editable 13"/>
          <p:cNvSpPr txBox="1"/>
          <p:nvPr/>
        </p:nvSpPr>
        <p:spPr>
          <a:xfrm>
            <a:off x="4427956" y="2052000"/>
            <a:ext cx="2843972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 b="1">
                <a:solidFill>
                  <a:srgbClr val="C5A059"/>
                </a:solidFill>
                <a:latin typeface="Liberation Sans"/>
              </a:rPr>
              <a:t>SERVICIOS</a:t>
            </a:r>
            <a:endParaRPr lang="es-PE" sz="1300"/>
          </a:p>
        </p:txBody>
      </p:sp>
      <p:sp>
        <p:nvSpPr>
          <p:cNvPr id="14" name="Objeto editable 14"/>
          <p:cNvSpPr txBox="1"/>
          <p:nvPr/>
        </p:nvSpPr>
        <p:spPr>
          <a:xfrm>
            <a:off x="4427956" y="2358000"/>
            <a:ext cx="2843972" cy="46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>
                <a:solidFill>
                  <a:srgbClr val="FFFFFF"/>
                </a:solidFill>
                <a:latin typeface="Liberation Sans"/>
              </a:rPr>
              <a:t>Horarios presenciales y transmisión en línea.</a:t>
            </a:r>
            <a:endParaRPr lang="es-PE" sz="1100"/>
          </a:p>
        </p:txBody>
      </p:sp>
      <p:sp>
        <p:nvSpPr>
          <p:cNvPr id="15" name="Objeto editable 15"/>
          <p:cNvSpPr/>
          <p:nvPr/>
        </p:nvSpPr>
        <p:spPr>
          <a:xfrm>
            <a:off x="7847923" y="1872000"/>
            <a:ext cx="3275968" cy="1188000"/>
          </a:xfrm>
          <a:prstGeom prst="roundRect">
            <a:avLst/>
          </a:prstGeom>
          <a:solidFill>
            <a:srgbClr val="202020">
              <a:alpha val="100000"/>
            </a:srgbClr>
          </a:solidFill>
          <a:ln w="6350">
            <a:solidFill>
              <a:srgbClr val="3A3A3A"/>
            </a:solidFill>
          </a:ln>
        </p:spPr>
      </p:sp>
      <p:sp>
        <p:nvSpPr>
          <p:cNvPr id="16" name="Objeto editable 16"/>
          <p:cNvSpPr txBox="1"/>
          <p:nvPr/>
        </p:nvSpPr>
        <p:spPr>
          <a:xfrm>
            <a:off x="8063921" y="2052000"/>
            <a:ext cx="2843972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 b="1">
                <a:solidFill>
                  <a:srgbClr val="C5A059"/>
                </a:solidFill>
                <a:latin typeface="Liberation Sans"/>
              </a:rPr>
              <a:t>PREDICACIÓN</a:t>
            </a:r>
            <a:endParaRPr lang="es-PE" sz="1300"/>
          </a:p>
        </p:txBody>
      </p:sp>
      <p:sp>
        <p:nvSpPr>
          <p:cNvPr id="17" name="Objeto editable 17"/>
          <p:cNvSpPr txBox="1"/>
          <p:nvPr/>
        </p:nvSpPr>
        <p:spPr>
          <a:xfrm>
            <a:off x="8063921" y="2358000"/>
            <a:ext cx="2843972" cy="46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>
                <a:solidFill>
                  <a:srgbClr val="FFFFFF"/>
                </a:solidFill>
                <a:latin typeface="Liberation Sans"/>
              </a:rPr>
              <a:t>Biblioteca visible de mensajes en video.</a:t>
            </a:r>
            <a:endParaRPr lang="es-PE" sz="1100"/>
          </a:p>
        </p:txBody>
      </p:sp>
      <p:sp>
        <p:nvSpPr>
          <p:cNvPr id="18" name="Objeto editable 18"/>
          <p:cNvSpPr/>
          <p:nvPr/>
        </p:nvSpPr>
        <p:spPr>
          <a:xfrm>
            <a:off x="575994" y="3420000"/>
            <a:ext cx="5111950" cy="1188000"/>
          </a:xfrm>
          <a:prstGeom prst="roundRect">
            <a:avLst/>
          </a:prstGeom>
          <a:solidFill>
            <a:srgbClr val="202020">
              <a:alpha val="100000"/>
            </a:srgbClr>
          </a:solidFill>
          <a:ln w="6350">
            <a:solidFill>
              <a:srgbClr val="3A3A3A"/>
            </a:solidFill>
          </a:ln>
        </p:spPr>
      </p:sp>
      <p:sp>
        <p:nvSpPr>
          <p:cNvPr id="19" name="Objeto editable 19"/>
          <p:cNvSpPr txBox="1"/>
          <p:nvPr/>
        </p:nvSpPr>
        <p:spPr>
          <a:xfrm>
            <a:off x="791992" y="3600000"/>
            <a:ext cx="4679954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 b="1">
                <a:solidFill>
                  <a:srgbClr val="C5A059"/>
                </a:solidFill>
                <a:latin typeface="Liberation Sans"/>
              </a:rPr>
              <a:t>CONEXIÓN</a:t>
            </a:r>
            <a:endParaRPr lang="es-PE" sz="1300"/>
          </a:p>
        </p:txBody>
      </p:sp>
      <p:sp>
        <p:nvSpPr>
          <p:cNvPr id="20" name="Objeto editable 20"/>
          <p:cNvSpPr txBox="1"/>
          <p:nvPr/>
        </p:nvSpPr>
        <p:spPr>
          <a:xfrm>
            <a:off x="791992" y="3906000"/>
            <a:ext cx="4679954" cy="46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>
                <a:solidFill>
                  <a:srgbClr val="FFFFFF"/>
                </a:solidFill>
                <a:latin typeface="Liberation Sans"/>
              </a:rPr>
              <a:t>Eventos, contacto, ofrendas, radio y redes.</a:t>
            </a:r>
            <a:endParaRPr lang="es-PE" sz="1100"/>
          </a:p>
        </p:txBody>
      </p:sp>
      <p:sp>
        <p:nvSpPr>
          <p:cNvPr id="21" name="Objeto editable 21"/>
          <p:cNvSpPr/>
          <p:nvPr/>
        </p:nvSpPr>
        <p:spPr>
          <a:xfrm>
            <a:off x="6119940" y="3420000"/>
            <a:ext cx="5111950" cy="1188000"/>
          </a:xfrm>
          <a:prstGeom prst="roundRect">
            <a:avLst/>
          </a:prstGeom>
          <a:solidFill>
            <a:srgbClr val="202020">
              <a:alpha val="100000"/>
            </a:srgbClr>
          </a:solidFill>
          <a:ln w="6350">
            <a:solidFill>
              <a:srgbClr val="3A3A3A"/>
            </a:solidFill>
          </a:ln>
        </p:spPr>
      </p:sp>
      <p:sp>
        <p:nvSpPr>
          <p:cNvPr id="22" name="Objeto editable 22"/>
          <p:cNvSpPr txBox="1"/>
          <p:nvPr/>
        </p:nvSpPr>
        <p:spPr>
          <a:xfrm>
            <a:off x="6335938" y="3600000"/>
            <a:ext cx="4679954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 b="1">
                <a:solidFill>
                  <a:srgbClr val="C5A059"/>
                </a:solidFill>
                <a:latin typeface="Liberation Sans"/>
              </a:rPr>
              <a:t>COBERTURA</a:t>
            </a:r>
            <a:endParaRPr lang="es-PE" sz="1300"/>
          </a:p>
        </p:txBody>
      </p:sp>
      <p:sp>
        <p:nvSpPr>
          <p:cNvPr id="23" name="Objeto editable 23"/>
          <p:cNvSpPr txBox="1"/>
          <p:nvPr/>
        </p:nvSpPr>
        <p:spPr>
          <a:xfrm>
            <a:off x="6335938" y="3906000"/>
            <a:ext cx="4679954" cy="46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100">
                <a:solidFill>
                  <a:srgbClr val="FFFFFF"/>
                </a:solidFill>
                <a:latin typeface="Liberation Sans"/>
              </a:rPr>
              <a:t>Amplio listado de iglesias en EE. UU. y otros países.</a:t>
            </a:r>
            <a:endParaRPr lang="es-PE" sz="1100"/>
          </a:p>
        </p:txBody>
      </p:sp>
      <p:sp>
        <p:nvSpPr>
          <p:cNvPr id="24" name="Objeto editable 24"/>
          <p:cNvSpPr txBox="1"/>
          <p:nvPr/>
        </p:nvSpPr>
        <p:spPr>
          <a:xfrm>
            <a:off x="575994" y="6426000"/>
            <a:ext cx="10439897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50">
                <a:solidFill>
                  <a:srgbClr val="E7D7AA"/>
                </a:solidFill>
                <a:latin typeface="Liberation Sans"/>
              </a:rPr>
              <a:t>Fuente: ministerioselimlosangeles.net, revisión pública del 14/10/2026</a:t>
            </a:r>
            <a:endParaRPr lang="es-PE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FFFFFF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6D6A64"/>
                </a:solidFill>
                <a:latin typeface="Liberation Sans"/>
              </a:rPr>
              <a:t>9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COMPARACIÓN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242424"/>
                </a:solidFill>
                <a:latin typeface="Liberation Serif"/>
              </a:rPr>
              <a:t>Dos experiencias digitales, dos alcances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sp>
        <p:nvSpPr>
          <p:cNvPr id="8" name="Objeto editable 8"/>
          <p:cNvSpPr/>
          <p:nvPr/>
        </p:nvSpPr>
        <p:spPr>
          <a:xfrm>
            <a:off x="575994" y="1548000"/>
            <a:ext cx="1979981" cy="360000"/>
          </a:xfrm>
          <a:prstGeom prst="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9" name="Objeto editable 9"/>
          <p:cNvSpPr txBox="1"/>
          <p:nvPr/>
        </p:nvSpPr>
        <p:spPr>
          <a:xfrm>
            <a:off x="665993" y="1612800"/>
            <a:ext cx="1799982" cy="19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1000" b="1">
                <a:solidFill>
                  <a:srgbClr val="FFFFFF"/>
                </a:solidFill>
                <a:latin typeface="Liberation Sans"/>
              </a:rPr>
              <a:t>DIMENSIÓN</a:t>
            </a:r>
            <a:endParaRPr lang="es-PE" sz="1000"/>
          </a:p>
        </p:txBody>
      </p:sp>
      <p:sp>
        <p:nvSpPr>
          <p:cNvPr id="10" name="Objeto editable 10"/>
          <p:cNvSpPr/>
          <p:nvPr/>
        </p:nvSpPr>
        <p:spPr>
          <a:xfrm>
            <a:off x="2555975" y="1548000"/>
            <a:ext cx="4283958" cy="360000"/>
          </a:xfrm>
          <a:prstGeom prst="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11" name="Objeto editable 11"/>
          <p:cNvSpPr txBox="1"/>
          <p:nvPr/>
        </p:nvSpPr>
        <p:spPr>
          <a:xfrm>
            <a:off x="2645974" y="1612800"/>
            <a:ext cx="4103960" cy="19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SITIO ACTUAL</a:t>
            </a:r>
            <a:endParaRPr lang="es-PE" sz="1000"/>
          </a:p>
        </p:txBody>
      </p:sp>
      <p:sp>
        <p:nvSpPr>
          <p:cNvPr id="12" name="Objeto editable 12"/>
          <p:cNvSpPr/>
          <p:nvPr/>
        </p:nvSpPr>
        <p:spPr>
          <a:xfrm>
            <a:off x="6839933" y="1548000"/>
            <a:ext cx="4787953" cy="360000"/>
          </a:xfrm>
          <a:prstGeom prst="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13" name="Objeto editable 13"/>
          <p:cNvSpPr txBox="1"/>
          <p:nvPr/>
        </p:nvSpPr>
        <p:spPr>
          <a:xfrm>
            <a:off x="6929932" y="1612800"/>
            <a:ext cx="4607955" cy="19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PROTOTIPO PROPUESTO</a:t>
            </a:r>
            <a:endParaRPr lang="es-PE" sz="1000"/>
          </a:p>
        </p:txBody>
      </p:sp>
      <p:sp>
        <p:nvSpPr>
          <p:cNvPr id="14" name="Objeto editable 14"/>
          <p:cNvSpPr/>
          <p:nvPr/>
        </p:nvSpPr>
        <p:spPr>
          <a:xfrm>
            <a:off x="575994" y="1908000"/>
            <a:ext cx="1979981" cy="576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15" name="Objeto editable 15"/>
          <p:cNvSpPr txBox="1"/>
          <p:nvPr/>
        </p:nvSpPr>
        <p:spPr>
          <a:xfrm>
            <a:off x="676793" y="2001600"/>
            <a:ext cx="1778382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Propósito</a:t>
            </a:r>
            <a:endParaRPr lang="es-PE" sz="980"/>
          </a:p>
        </p:txBody>
      </p:sp>
      <p:sp>
        <p:nvSpPr>
          <p:cNvPr id="16" name="Objeto editable 16"/>
          <p:cNvSpPr/>
          <p:nvPr/>
        </p:nvSpPr>
        <p:spPr>
          <a:xfrm>
            <a:off x="2555975" y="1908000"/>
            <a:ext cx="4283958" cy="576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17" name="Objeto editable 17"/>
          <p:cNvSpPr txBox="1"/>
          <p:nvPr/>
        </p:nvSpPr>
        <p:spPr>
          <a:xfrm>
            <a:off x="2656774" y="2001600"/>
            <a:ext cx="4082360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>
                <a:solidFill>
                  <a:srgbClr val="242424"/>
                </a:solidFill>
                <a:latin typeface="Liberation Sans"/>
              </a:rPr>
              <a:t>Presencia pública de Elim Los Ángeles</a:t>
            </a:r>
            <a:endParaRPr lang="es-PE" sz="980"/>
          </a:p>
        </p:txBody>
      </p:sp>
      <p:sp>
        <p:nvSpPr>
          <p:cNvPr id="18" name="Objeto editable 18"/>
          <p:cNvSpPr/>
          <p:nvPr/>
        </p:nvSpPr>
        <p:spPr>
          <a:xfrm>
            <a:off x="6839933" y="1908000"/>
            <a:ext cx="4787953" cy="576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19" name="Objeto editable 19"/>
          <p:cNvSpPr txBox="1"/>
          <p:nvPr/>
        </p:nvSpPr>
        <p:spPr>
          <a:xfrm>
            <a:off x="6940732" y="2001600"/>
            <a:ext cx="4586355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75B34"/>
                </a:solidFill>
                <a:latin typeface="Liberation Sans"/>
              </a:rPr>
              <a:t>Plataforma para congregación y red</a:t>
            </a:r>
            <a:endParaRPr lang="es-PE" sz="980"/>
          </a:p>
        </p:txBody>
      </p:sp>
      <p:sp>
        <p:nvSpPr>
          <p:cNvPr id="20" name="Objeto editable 20"/>
          <p:cNvSpPr/>
          <p:nvPr/>
        </p:nvSpPr>
        <p:spPr>
          <a:xfrm>
            <a:off x="575994" y="2484000"/>
            <a:ext cx="1979981" cy="576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1" name="Objeto editable 21"/>
          <p:cNvSpPr txBox="1"/>
          <p:nvPr/>
        </p:nvSpPr>
        <p:spPr>
          <a:xfrm>
            <a:off x="676793" y="2577600"/>
            <a:ext cx="1778382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Doctrina</a:t>
            </a:r>
            <a:endParaRPr lang="es-PE" sz="980"/>
          </a:p>
        </p:txBody>
      </p:sp>
      <p:sp>
        <p:nvSpPr>
          <p:cNvPr id="22" name="Objeto editable 22"/>
          <p:cNvSpPr/>
          <p:nvPr/>
        </p:nvSpPr>
        <p:spPr>
          <a:xfrm>
            <a:off x="2555975" y="2484000"/>
            <a:ext cx="4283958" cy="576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3" name="Objeto editable 23"/>
          <p:cNvSpPr txBox="1"/>
          <p:nvPr/>
        </p:nvSpPr>
        <p:spPr>
          <a:xfrm>
            <a:off x="2656774" y="2577600"/>
            <a:ext cx="4082360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>
                <a:solidFill>
                  <a:srgbClr val="242424"/>
                </a:solidFill>
                <a:latin typeface="Liberation Sans"/>
              </a:rPr>
              <a:t>Creencias y material publicado</a:t>
            </a:r>
            <a:endParaRPr lang="es-PE" sz="980"/>
          </a:p>
        </p:txBody>
      </p:sp>
      <p:sp>
        <p:nvSpPr>
          <p:cNvPr id="24" name="Objeto editable 24"/>
          <p:cNvSpPr/>
          <p:nvPr/>
        </p:nvSpPr>
        <p:spPr>
          <a:xfrm>
            <a:off x="6839933" y="2484000"/>
            <a:ext cx="4787953" cy="576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5" name="Objeto editable 25"/>
          <p:cNvSpPr txBox="1"/>
          <p:nvPr/>
        </p:nvSpPr>
        <p:spPr>
          <a:xfrm>
            <a:off x="6940732" y="2577600"/>
            <a:ext cx="4586355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75B34"/>
                </a:solidFill>
                <a:latin typeface="Liberation Sans"/>
              </a:rPr>
              <a:t>Niveles, lecciones, referencias y recursos</a:t>
            </a:r>
            <a:endParaRPr lang="es-PE" sz="980"/>
          </a:p>
        </p:txBody>
      </p:sp>
      <p:sp>
        <p:nvSpPr>
          <p:cNvPr id="26" name="Objeto editable 26"/>
          <p:cNvSpPr/>
          <p:nvPr/>
        </p:nvSpPr>
        <p:spPr>
          <a:xfrm>
            <a:off x="575994" y="3060000"/>
            <a:ext cx="1979981" cy="576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7" name="Objeto editable 27"/>
          <p:cNvSpPr txBox="1"/>
          <p:nvPr/>
        </p:nvSpPr>
        <p:spPr>
          <a:xfrm>
            <a:off x="676793" y="3153600"/>
            <a:ext cx="1778382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Iglesias</a:t>
            </a:r>
            <a:endParaRPr lang="es-PE" sz="980"/>
          </a:p>
        </p:txBody>
      </p:sp>
      <p:sp>
        <p:nvSpPr>
          <p:cNvPr id="28" name="Objeto editable 28"/>
          <p:cNvSpPr/>
          <p:nvPr/>
        </p:nvSpPr>
        <p:spPr>
          <a:xfrm>
            <a:off x="2555975" y="3060000"/>
            <a:ext cx="4283958" cy="576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9" name="Objeto editable 29"/>
          <p:cNvSpPr txBox="1"/>
          <p:nvPr/>
        </p:nvSpPr>
        <p:spPr>
          <a:xfrm>
            <a:off x="2656774" y="3153600"/>
            <a:ext cx="4082360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>
                <a:solidFill>
                  <a:srgbClr val="242424"/>
                </a:solidFill>
                <a:latin typeface="Liberation Sans"/>
              </a:rPr>
              <a:t>Directorio agrupado por regiones</a:t>
            </a:r>
            <a:endParaRPr lang="es-PE" sz="980"/>
          </a:p>
        </p:txBody>
      </p:sp>
      <p:sp>
        <p:nvSpPr>
          <p:cNvPr id="30" name="Objeto editable 30"/>
          <p:cNvSpPr/>
          <p:nvPr/>
        </p:nvSpPr>
        <p:spPr>
          <a:xfrm>
            <a:off x="6839933" y="3060000"/>
            <a:ext cx="4787953" cy="576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1" name="Objeto editable 31"/>
          <p:cNvSpPr txBox="1"/>
          <p:nvPr/>
        </p:nvSpPr>
        <p:spPr>
          <a:xfrm>
            <a:off x="6940732" y="3153600"/>
            <a:ext cx="4586355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75B34"/>
                </a:solidFill>
                <a:latin typeface="Liberation Sans"/>
              </a:rPr>
              <a:t>Fichas navegables por país y ciudad</a:t>
            </a:r>
            <a:endParaRPr lang="es-PE" sz="980"/>
          </a:p>
        </p:txBody>
      </p:sp>
      <p:sp>
        <p:nvSpPr>
          <p:cNvPr id="32" name="Objeto editable 32"/>
          <p:cNvSpPr/>
          <p:nvPr/>
        </p:nvSpPr>
        <p:spPr>
          <a:xfrm>
            <a:off x="575994" y="3636000"/>
            <a:ext cx="1979981" cy="576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3" name="Objeto editable 33"/>
          <p:cNvSpPr txBox="1"/>
          <p:nvPr/>
        </p:nvSpPr>
        <p:spPr>
          <a:xfrm>
            <a:off x="676793" y="3729600"/>
            <a:ext cx="1778382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Usuarios</a:t>
            </a:r>
            <a:endParaRPr lang="es-PE" sz="980"/>
          </a:p>
        </p:txBody>
      </p:sp>
      <p:sp>
        <p:nvSpPr>
          <p:cNvPr id="34" name="Objeto editable 34"/>
          <p:cNvSpPr/>
          <p:nvPr/>
        </p:nvSpPr>
        <p:spPr>
          <a:xfrm>
            <a:off x="2555975" y="3636000"/>
            <a:ext cx="4283958" cy="576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5" name="Objeto editable 35"/>
          <p:cNvSpPr txBox="1"/>
          <p:nvPr/>
        </p:nvSpPr>
        <p:spPr>
          <a:xfrm>
            <a:off x="2656774" y="3729600"/>
            <a:ext cx="4082360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>
                <a:solidFill>
                  <a:srgbClr val="242424"/>
                </a:solidFill>
                <a:latin typeface="Liberation Sans"/>
              </a:rPr>
              <a:t>Experiencia principalmente pública</a:t>
            </a:r>
            <a:endParaRPr lang="es-PE" sz="980"/>
          </a:p>
        </p:txBody>
      </p:sp>
      <p:sp>
        <p:nvSpPr>
          <p:cNvPr id="36" name="Objeto editable 36"/>
          <p:cNvSpPr/>
          <p:nvPr/>
        </p:nvSpPr>
        <p:spPr>
          <a:xfrm>
            <a:off x="6839933" y="3636000"/>
            <a:ext cx="4787953" cy="576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7" name="Objeto editable 37"/>
          <p:cNvSpPr txBox="1"/>
          <p:nvPr/>
        </p:nvSpPr>
        <p:spPr>
          <a:xfrm>
            <a:off x="6940732" y="3729600"/>
            <a:ext cx="4586355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75B34"/>
                </a:solidFill>
                <a:latin typeface="Liberation Sans"/>
              </a:rPr>
              <a:t>Visitante, miembro, pastor, supervisor y apóstol</a:t>
            </a:r>
            <a:endParaRPr lang="es-PE" sz="980"/>
          </a:p>
        </p:txBody>
      </p:sp>
      <p:sp>
        <p:nvSpPr>
          <p:cNvPr id="38" name="Objeto editable 38"/>
          <p:cNvSpPr/>
          <p:nvPr/>
        </p:nvSpPr>
        <p:spPr>
          <a:xfrm>
            <a:off x="575994" y="4212000"/>
            <a:ext cx="1979981" cy="576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9" name="Objeto editable 39"/>
          <p:cNvSpPr txBox="1"/>
          <p:nvPr/>
        </p:nvSpPr>
        <p:spPr>
          <a:xfrm>
            <a:off x="676793" y="4305600"/>
            <a:ext cx="1778382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Publicación</a:t>
            </a:r>
            <a:endParaRPr lang="es-PE" sz="980"/>
          </a:p>
        </p:txBody>
      </p:sp>
      <p:sp>
        <p:nvSpPr>
          <p:cNvPr id="40" name="Objeto editable 40"/>
          <p:cNvSpPr/>
          <p:nvPr/>
        </p:nvSpPr>
        <p:spPr>
          <a:xfrm>
            <a:off x="2555975" y="4212000"/>
            <a:ext cx="4283958" cy="576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1" name="Objeto editable 41"/>
          <p:cNvSpPr txBox="1"/>
          <p:nvPr/>
        </p:nvSpPr>
        <p:spPr>
          <a:xfrm>
            <a:off x="2656774" y="4305600"/>
            <a:ext cx="4082360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>
                <a:solidFill>
                  <a:srgbClr val="242424"/>
                </a:solidFill>
                <a:latin typeface="Liberation Sans"/>
              </a:rPr>
              <a:t>Edición central del sitio</a:t>
            </a:r>
            <a:endParaRPr lang="es-PE" sz="980"/>
          </a:p>
        </p:txBody>
      </p:sp>
      <p:sp>
        <p:nvSpPr>
          <p:cNvPr id="42" name="Objeto editable 42"/>
          <p:cNvSpPr/>
          <p:nvPr/>
        </p:nvSpPr>
        <p:spPr>
          <a:xfrm>
            <a:off x="6839933" y="4212000"/>
            <a:ext cx="4787953" cy="576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3" name="Objeto editable 43"/>
          <p:cNvSpPr txBox="1"/>
          <p:nvPr/>
        </p:nvSpPr>
        <p:spPr>
          <a:xfrm>
            <a:off x="6940732" y="4305600"/>
            <a:ext cx="4586355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75B34"/>
                </a:solidFill>
                <a:latin typeface="Liberation Sans"/>
              </a:rPr>
              <a:t>Permisos y responsabilidad distribuida</a:t>
            </a:r>
            <a:endParaRPr lang="es-PE" sz="980"/>
          </a:p>
        </p:txBody>
      </p:sp>
      <p:sp>
        <p:nvSpPr>
          <p:cNvPr id="44" name="Objeto editable 44"/>
          <p:cNvSpPr/>
          <p:nvPr/>
        </p:nvSpPr>
        <p:spPr>
          <a:xfrm>
            <a:off x="575994" y="4788000"/>
            <a:ext cx="1979981" cy="576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5" name="Objeto editable 45"/>
          <p:cNvSpPr txBox="1"/>
          <p:nvPr/>
        </p:nvSpPr>
        <p:spPr>
          <a:xfrm>
            <a:off x="676793" y="4881600"/>
            <a:ext cx="1778382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Comunidad</a:t>
            </a:r>
            <a:endParaRPr lang="es-PE" sz="980"/>
          </a:p>
        </p:txBody>
      </p:sp>
      <p:sp>
        <p:nvSpPr>
          <p:cNvPr id="46" name="Objeto editable 46"/>
          <p:cNvSpPr/>
          <p:nvPr/>
        </p:nvSpPr>
        <p:spPr>
          <a:xfrm>
            <a:off x="2555975" y="4788000"/>
            <a:ext cx="4283958" cy="576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7" name="Objeto editable 47"/>
          <p:cNvSpPr txBox="1"/>
          <p:nvPr/>
        </p:nvSpPr>
        <p:spPr>
          <a:xfrm>
            <a:off x="2656774" y="4881600"/>
            <a:ext cx="4082360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>
                <a:solidFill>
                  <a:srgbClr val="242424"/>
                </a:solidFill>
                <a:latin typeface="Liberation Sans"/>
              </a:rPr>
              <a:t>Contacto, redes y eventos</a:t>
            </a:r>
            <a:endParaRPr lang="es-PE" sz="980"/>
          </a:p>
        </p:txBody>
      </p:sp>
      <p:sp>
        <p:nvSpPr>
          <p:cNvPr id="48" name="Objeto editable 48"/>
          <p:cNvSpPr/>
          <p:nvPr/>
        </p:nvSpPr>
        <p:spPr>
          <a:xfrm>
            <a:off x="6839933" y="4788000"/>
            <a:ext cx="4787953" cy="576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49" name="Objeto editable 49"/>
          <p:cNvSpPr txBox="1"/>
          <p:nvPr/>
        </p:nvSpPr>
        <p:spPr>
          <a:xfrm>
            <a:off x="6940732" y="4881600"/>
            <a:ext cx="4586355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75B34"/>
                </a:solidFill>
                <a:latin typeface="Liberation Sans"/>
              </a:rPr>
              <a:t>Perfiles, foros, comentarios y paneles</a:t>
            </a:r>
            <a:endParaRPr lang="es-PE" sz="980"/>
          </a:p>
        </p:txBody>
      </p:sp>
      <p:sp>
        <p:nvSpPr>
          <p:cNvPr id="50" name="Objeto editable 50"/>
          <p:cNvSpPr/>
          <p:nvPr/>
        </p:nvSpPr>
        <p:spPr>
          <a:xfrm>
            <a:off x="575994" y="5364000"/>
            <a:ext cx="1979981" cy="576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51" name="Objeto editable 51"/>
          <p:cNvSpPr txBox="1"/>
          <p:nvPr/>
        </p:nvSpPr>
        <p:spPr>
          <a:xfrm>
            <a:off x="676793" y="5457600"/>
            <a:ext cx="1778382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42424"/>
                </a:solidFill>
                <a:latin typeface="Liberation Sans"/>
              </a:rPr>
              <a:t>Escalabilidad</a:t>
            </a:r>
            <a:endParaRPr lang="es-PE" sz="980"/>
          </a:p>
        </p:txBody>
      </p:sp>
      <p:sp>
        <p:nvSpPr>
          <p:cNvPr id="52" name="Objeto editable 52"/>
          <p:cNvSpPr/>
          <p:nvPr/>
        </p:nvSpPr>
        <p:spPr>
          <a:xfrm>
            <a:off x="2555975" y="5364000"/>
            <a:ext cx="4283958" cy="576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53" name="Objeto editable 53"/>
          <p:cNvSpPr txBox="1"/>
          <p:nvPr/>
        </p:nvSpPr>
        <p:spPr>
          <a:xfrm>
            <a:off x="2656774" y="5457600"/>
            <a:ext cx="4082360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>
                <a:solidFill>
                  <a:srgbClr val="242424"/>
                </a:solidFill>
                <a:latin typeface="Liberation Sans"/>
              </a:rPr>
              <a:t>Páginas y listas administradas manualmente</a:t>
            </a:r>
            <a:endParaRPr lang="es-PE" sz="980"/>
          </a:p>
        </p:txBody>
      </p:sp>
      <p:sp>
        <p:nvSpPr>
          <p:cNvPr id="54" name="Objeto editable 54"/>
          <p:cNvSpPr/>
          <p:nvPr/>
        </p:nvSpPr>
        <p:spPr>
          <a:xfrm>
            <a:off x="6839933" y="5364000"/>
            <a:ext cx="4787953" cy="576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55" name="Objeto editable 55"/>
          <p:cNvSpPr txBox="1"/>
          <p:nvPr/>
        </p:nvSpPr>
        <p:spPr>
          <a:xfrm>
            <a:off x="6940732" y="5457600"/>
            <a:ext cx="4586355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980" b="1">
                <a:solidFill>
                  <a:srgbClr val="275B34"/>
                </a:solidFill>
                <a:latin typeface="Liberation Sans"/>
              </a:rPr>
              <a:t>Modelos reutilizables y búsquedas</a:t>
            </a:r>
            <a:endParaRPr lang="es-PE" sz="980"/>
          </a:p>
        </p:txBody>
      </p:sp>
      <p:sp>
        <p:nvSpPr>
          <p:cNvPr id="56" name="Objeto editable 56"/>
          <p:cNvSpPr txBox="1"/>
          <p:nvPr/>
        </p:nvSpPr>
        <p:spPr>
          <a:xfrm>
            <a:off x="575994" y="6588000"/>
            <a:ext cx="10439897" cy="12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50" i="1">
                <a:solidFill>
                  <a:srgbClr val="6D6A64"/>
                </a:solidFill>
                <a:latin typeface="Liberation Sans"/>
              </a:rPr>
              <a:t>La propuesta puede convivir temporalmente con el sitio actual durante un piloto.</a:t>
            </a:r>
            <a:endParaRPr lang="es-PE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111111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FFFFFF"/>
                </a:solidFill>
                <a:latin typeface="Liberation Sans"/>
              </a:rPr>
              <a:t>10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FORMACIÓN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FFFFFF"/>
                </a:solidFill>
                <a:latin typeface="Liberation Serif"/>
              </a:rPr>
              <a:t>Doctrina que se puede recorrer y administrar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pic>
        <p:nvPicPr>
          <p:cNvPr id="8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2171700"/>
            <a:ext cx="6838950" cy="22034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bjeto editable 9"/>
          <p:cNvSpPr txBox="1"/>
          <p:nvPr/>
        </p:nvSpPr>
        <p:spPr>
          <a:xfrm>
            <a:off x="7955922" y="1692000"/>
            <a:ext cx="3419966" cy="19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200" b="1">
                <a:solidFill>
                  <a:srgbClr val="C5A059"/>
                </a:solidFill>
                <a:latin typeface="Liberation Sans"/>
              </a:rPr>
              <a:t>3 NIVELES</a:t>
            </a:r>
            <a:endParaRPr lang="es-PE" sz="1200"/>
          </a:p>
        </p:txBody>
      </p:sp>
      <p:sp>
        <p:nvSpPr>
          <p:cNvPr id="10" name="Objeto editable 10"/>
          <p:cNvSpPr txBox="1"/>
          <p:nvPr/>
        </p:nvSpPr>
        <p:spPr>
          <a:xfrm>
            <a:off x="7955922" y="1926000"/>
            <a:ext cx="3419966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FFFFFF"/>
                </a:solidFill>
                <a:latin typeface="Liberation Sans"/>
              </a:rPr>
              <a:t>Básica, intermedia y avanzada</a:t>
            </a:r>
            <a:endParaRPr lang="es-PE" sz="1050"/>
          </a:p>
        </p:txBody>
      </p:sp>
      <p:sp>
        <p:nvSpPr>
          <p:cNvPr id="11" name="Objeto editable 11"/>
          <p:cNvSpPr txBox="1"/>
          <p:nvPr/>
        </p:nvSpPr>
        <p:spPr>
          <a:xfrm>
            <a:off x="7955922" y="2484000"/>
            <a:ext cx="3419966" cy="19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200" b="1">
                <a:solidFill>
                  <a:srgbClr val="C5A059"/>
                </a:solidFill>
                <a:latin typeface="Liberation Sans"/>
              </a:rPr>
              <a:t>CONTENIDO RICO</a:t>
            </a:r>
            <a:endParaRPr lang="es-PE" sz="1200"/>
          </a:p>
        </p:txBody>
      </p:sp>
      <p:sp>
        <p:nvSpPr>
          <p:cNvPr id="12" name="Objeto editable 12"/>
          <p:cNvSpPr txBox="1"/>
          <p:nvPr/>
        </p:nvSpPr>
        <p:spPr>
          <a:xfrm>
            <a:off x="7955922" y="2718000"/>
            <a:ext cx="3419966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FFFFFF"/>
                </a:solidFill>
                <a:latin typeface="Liberation Sans"/>
              </a:rPr>
              <a:t>Texto, imágenes, videos y documentos</a:t>
            </a:r>
            <a:endParaRPr lang="es-PE" sz="1050"/>
          </a:p>
        </p:txBody>
      </p:sp>
      <p:sp>
        <p:nvSpPr>
          <p:cNvPr id="13" name="Objeto editable 13"/>
          <p:cNvSpPr txBox="1"/>
          <p:nvPr/>
        </p:nvSpPr>
        <p:spPr>
          <a:xfrm>
            <a:off x="7955922" y="3276000"/>
            <a:ext cx="3419966" cy="19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200" b="1">
                <a:solidFill>
                  <a:srgbClr val="C5A059"/>
                </a:solidFill>
                <a:latin typeface="Liberation Sans"/>
              </a:rPr>
              <a:t>TRAZABILIDAD</a:t>
            </a:r>
            <a:endParaRPr lang="es-PE" sz="1200"/>
          </a:p>
        </p:txBody>
      </p:sp>
      <p:sp>
        <p:nvSpPr>
          <p:cNvPr id="14" name="Objeto editable 14"/>
          <p:cNvSpPr txBox="1"/>
          <p:nvPr/>
        </p:nvSpPr>
        <p:spPr>
          <a:xfrm>
            <a:off x="7955922" y="3510000"/>
            <a:ext cx="3419966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FFFFFF"/>
                </a:solidFill>
                <a:latin typeface="Liberation Sans"/>
              </a:rPr>
              <a:t>Autoría, revisiones y fecha de publicación</a:t>
            </a:r>
            <a:endParaRPr lang="es-PE" sz="1050"/>
          </a:p>
        </p:txBody>
      </p:sp>
      <p:sp>
        <p:nvSpPr>
          <p:cNvPr id="15" name="Objeto editable 15"/>
          <p:cNvSpPr txBox="1"/>
          <p:nvPr/>
        </p:nvSpPr>
        <p:spPr>
          <a:xfrm>
            <a:off x="7955922" y="4068000"/>
            <a:ext cx="3419966" cy="19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200" b="1">
                <a:solidFill>
                  <a:srgbClr val="C5A059"/>
                </a:solidFill>
                <a:latin typeface="Liberation Sans"/>
              </a:rPr>
              <a:t>INTERACCIÓN</a:t>
            </a:r>
            <a:endParaRPr lang="es-PE" sz="1200"/>
          </a:p>
        </p:txBody>
      </p:sp>
      <p:sp>
        <p:nvSpPr>
          <p:cNvPr id="16" name="Objeto editable 16"/>
          <p:cNvSpPr txBox="1"/>
          <p:nvPr/>
        </p:nvSpPr>
        <p:spPr>
          <a:xfrm>
            <a:off x="7955922" y="4302000"/>
            <a:ext cx="3419966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FFFFFF"/>
                </a:solidFill>
                <a:latin typeface="Liberation Sans"/>
              </a:rPr>
              <a:t>Comentarios públicos moderables</a:t>
            </a:r>
            <a:endParaRPr lang="es-PE" sz="1050"/>
          </a:p>
        </p:txBody>
      </p:sp>
      <p:sp>
        <p:nvSpPr>
          <p:cNvPr id="17" name="Objeto editable 17"/>
          <p:cNvSpPr txBox="1"/>
          <p:nvPr/>
        </p:nvSpPr>
        <p:spPr>
          <a:xfrm>
            <a:off x="7955922" y="4860000"/>
            <a:ext cx="3419966" cy="19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200" b="1">
                <a:solidFill>
                  <a:srgbClr val="C5A059"/>
                </a:solidFill>
                <a:latin typeface="Liberation Sans"/>
              </a:rPr>
              <a:t>VISUALIZACIÓN</a:t>
            </a:r>
            <a:endParaRPr lang="es-PE" sz="1200"/>
          </a:p>
        </p:txBody>
      </p:sp>
      <p:sp>
        <p:nvSpPr>
          <p:cNvPr id="18" name="Objeto editable 18"/>
          <p:cNvSpPr txBox="1"/>
          <p:nvPr/>
        </p:nvSpPr>
        <p:spPr>
          <a:xfrm>
            <a:off x="7955922" y="5094000"/>
            <a:ext cx="3419966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FFFFFF"/>
                </a:solidFill>
                <a:latin typeface="Liberation Sans"/>
              </a:rPr>
              <a:t>Gráficos bíblicos interactivos</a:t>
            </a:r>
            <a:endParaRPr lang="es-PE" sz="1050"/>
          </a:p>
        </p:txBody>
      </p:sp>
      <p:sp>
        <p:nvSpPr>
          <p:cNvPr id="19" name="Objeto editable 19"/>
          <p:cNvSpPr txBox="1"/>
          <p:nvPr/>
        </p:nvSpPr>
        <p:spPr>
          <a:xfrm>
            <a:off x="539995" y="6534000"/>
            <a:ext cx="10619895" cy="12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20" i="1">
                <a:solidFill>
                  <a:srgbClr val="E7D7AA"/>
                </a:solidFill>
                <a:latin typeface="Liberation Sans"/>
              </a:rPr>
              <a:t>Captura del prototipo funcional. El contenido demo debe sustituirse por material aprobado.</a:t>
            </a:r>
            <a:endParaRPr lang="es-PE" sz="8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FFFFFF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6D6A64"/>
                </a:solidFill>
                <a:latin typeface="Liberation Sans"/>
              </a:rPr>
              <a:t>11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GOBERNANZA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242424"/>
                </a:solidFill>
                <a:latin typeface="Liberation Serif"/>
              </a:rPr>
              <a:t>Permisos que reflejan la estructura ministerial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pic>
        <p:nvPicPr>
          <p:cNvPr id="8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88" y="1800000"/>
            <a:ext cx="1295987" cy="1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bjeto editable 9"/>
          <p:cNvSpPr/>
          <p:nvPr/>
        </p:nvSpPr>
        <p:spPr>
          <a:xfrm>
            <a:off x="1205988" y="3042000"/>
            <a:ext cx="1403986" cy="234000"/>
          </a:xfrm>
          <a:prstGeom prst="round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0" name="Objeto editable 10"/>
          <p:cNvSpPr txBox="1"/>
          <p:nvPr/>
        </p:nvSpPr>
        <p:spPr>
          <a:xfrm>
            <a:off x="1241988" y="3067200"/>
            <a:ext cx="1331987" cy="144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850" b="1">
                <a:solidFill>
                  <a:srgbClr val="FFFFFF"/>
                </a:solidFill>
                <a:latin typeface="Liberation Sans"/>
              </a:rPr>
              <a:t>APÓSTOL</a:t>
            </a:r>
            <a:endParaRPr lang="es-PE" sz="850"/>
          </a:p>
        </p:txBody>
      </p:sp>
      <p:sp>
        <p:nvSpPr>
          <p:cNvPr id="11" name="Objeto editable 11"/>
          <p:cNvSpPr txBox="1"/>
          <p:nvPr/>
        </p:nvSpPr>
        <p:spPr>
          <a:xfrm>
            <a:off x="683993" y="3384000"/>
            <a:ext cx="2483976" cy="54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50" b="1">
                <a:solidFill>
                  <a:srgbClr val="6D6A64"/>
                </a:solidFill>
                <a:latin typeface="Liberation Sans"/>
              </a:rPr>
              <a:t>Gobierno, supervisión y publicación transversal</a:t>
            </a:r>
            <a:endParaRPr lang="es-PE" sz="1050"/>
          </a:p>
        </p:txBody>
      </p:sp>
      <p:sp>
        <p:nvSpPr>
          <p:cNvPr id="12" name="Objeto editable 12"/>
          <p:cNvSpPr/>
          <p:nvPr/>
        </p:nvSpPr>
        <p:spPr>
          <a:xfrm>
            <a:off x="3167969" y="2448000"/>
            <a:ext cx="359996" cy="360000"/>
          </a:xfrm>
          <a:prstGeom prst="line">
            <a:avLst/>
          </a:prstGeom>
          <a:noFill/>
          <a:ln w="28800">
            <a:solidFill>
              <a:srgbClr val="E7D7AA"/>
            </a:solidFill>
          </a:ln>
        </p:spPr>
      </p:sp>
      <p:pic>
        <p:nvPicPr>
          <p:cNvPr id="13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9" y="2160000"/>
            <a:ext cx="1295987" cy="1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Objeto editable 14"/>
          <p:cNvSpPr/>
          <p:nvPr/>
        </p:nvSpPr>
        <p:spPr>
          <a:xfrm>
            <a:off x="4085960" y="3402000"/>
            <a:ext cx="1403986" cy="234000"/>
          </a:xfrm>
          <a:prstGeom prst="roundRect">
            <a:avLst/>
          </a:prstGeom>
          <a:solidFill>
            <a:srgbClr val="36BBD3">
              <a:alpha val="100000"/>
            </a:srgbClr>
          </a:solidFill>
          <a:ln w="6350">
            <a:solidFill>
              <a:srgbClr val="36BBD3"/>
            </a:solidFill>
          </a:ln>
        </p:spPr>
      </p:sp>
      <p:sp>
        <p:nvSpPr>
          <p:cNvPr id="15" name="Objeto editable 15"/>
          <p:cNvSpPr txBox="1"/>
          <p:nvPr/>
        </p:nvSpPr>
        <p:spPr>
          <a:xfrm>
            <a:off x="4121959" y="3427200"/>
            <a:ext cx="1331987" cy="144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850" b="1">
                <a:solidFill>
                  <a:srgbClr val="FFFFFF"/>
                </a:solidFill>
                <a:latin typeface="Liberation Sans"/>
              </a:rPr>
              <a:t>PASTOR DE PASTORES</a:t>
            </a:r>
            <a:endParaRPr lang="es-PE" sz="850"/>
          </a:p>
        </p:txBody>
      </p:sp>
      <p:sp>
        <p:nvSpPr>
          <p:cNvPr id="16" name="Objeto editable 16"/>
          <p:cNvSpPr txBox="1"/>
          <p:nvPr/>
        </p:nvSpPr>
        <p:spPr>
          <a:xfrm>
            <a:off x="3563965" y="3744000"/>
            <a:ext cx="2483976" cy="54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50" b="1">
                <a:solidFill>
                  <a:srgbClr val="6D6A64"/>
                </a:solidFill>
                <a:latin typeface="Liberation Sans"/>
              </a:rPr>
              <a:t>Acompaña y supervisa equipos pastorales</a:t>
            </a:r>
            <a:endParaRPr lang="es-PE" sz="1050"/>
          </a:p>
        </p:txBody>
      </p:sp>
      <p:sp>
        <p:nvSpPr>
          <p:cNvPr id="17" name="Objeto editable 17"/>
          <p:cNvSpPr/>
          <p:nvPr/>
        </p:nvSpPr>
        <p:spPr>
          <a:xfrm>
            <a:off x="6047940" y="2808000"/>
            <a:ext cx="359996" cy="360000"/>
          </a:xfrm>
          <a:prstGeom prst="line">
            <a:avLst/>
          </a:prstGeom>
          <a:noFill/>
          <a:ln w="28800">
            <a:solidFill>
              <a:srgbClr val="E7D7AA"/>
            </a:solidFill>
          </a:ln>
        </p:spPr>
      </p:sp>
      <p:pic>
        <p:nvPicPr>
          <p:cNvPr id="18" name="Imagen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931" y="2520000"/>
            <a:ext cx="1295987" cy="1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Objeto editable 19"/>
          <p:cNvSpPr/>
          <p:nvPr/>
        </p:nvSpPr>
        <p:spPr>
          <a:xfrm>
            <a:off x="6965931" y="3762000"/>
            <a:ext cx="1403986" cy="234000"/>
          </a:xfrm>
          <a:prstGeom prst="roundRect">
            <a:avLst/>
          </a:prstGeom>
          <a:solidFill>
            <a:srgbClr val="87C45B">
              <a:alpha val="100000"/>
            </a:srgbClr>
          </a:solidFill>
          <a:ln w="6350">
            <a:solidFill>
              <a:srgbClr val="87C45B"/>
            </a:solidFill>
          </a:ln>
        </p:spPr>
      </p:sp>
      <p:sp>
        <p:nvSpPr>
          <p:cNvPr id="20" name="Objeto editable 20"/>
          <p:cNvSpPr txBox="1"/>
          <p:nvPr/>
        </p:nvSpPr>
        <p:spPr>
          <a:xfrm>
            <a:off x="7001931" y="3787200"/>
            <a:ext cx="1331987" cy="144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850" b="1">
                <a:solidFill>
                  <a:srgbClr val="FFFFFF"/>
                </a:solidFill>
                <a:latin typeface="Liberation Sans"/>
              </a:rPr>
              <a:t>PASTOR LOCAL</a:t>
            </a:r>
            <a:endParaRPr lang="es-PE" sz="850"/>
          </a:p>
        </p:txBody>
      </p:sp>
      <p:sp>
        <p:nvSpPr>
          <p:cNvPr id="21" name="Objeto editable 21"/>
          <p:cNvSpPr txBox="1"/>
          <p:nvPr/>
        </p:nvSpPr>
        <p:spPr>
          <a:xfrm>
            <a:off x="6443937" y="4104000"/>
            <a:ext cx="2483976" cy="54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50" b="1">
                <a:solidFill>
                  <a:srgbClr val="6D6A64"/>
                </a:solidFill>
                <a:latin typeface="Liberation Sans"/>
              </a:rPr>
              <a:t>Administra su iglesia y su contenido</a:t>
            </a:r>
            <a:endParaRPr lang="es-PE" sz="1050"/>
          </a:p>
        </p:txBody>
      </p:sp>
      <p:sp>
        <p:nvSpPr>
          <p:cNvPr id="22" name="Objeto editable 22"/>
          <p:cNvSpPr/>
          <p:nvPr/>
        </p:nvSpPr>
        <p:spPr>
          <a:xfrm>
            <a:off x="8927912" y="3168000"/>
            <a:ext cx="359996" cy="360000"/>
          </a:xfrm>
          <a:prstGeom prst="line">
            <a:avLst/>
          </a:prstGeom>
          <a:noFill/>
          <a:ln w="28800">
            <a:solidFill>
              <a:srgbClr val="E7D7AA"/>
            </a:solidFill>
          </a:ln>
        </p:spPr>
      </p:sp>
      <p:pic>
        <p:nvPicPr>
          <p:cNvPr id="23" name="Imagen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9903" y="2880000"/>
            <a:ext cx="1295987" cy="12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Objeto editable 24"/>
          <p:cNvSpPr/>
          <p:nvPr/>
        </p:nvSpPr>
        <p:spPr>
          <a:xfrm>
            <a:off x="9845903" y="4122000"/>
            <a:ext cx="1403986" cy="234000"/>
          </a:xfrm>
          <a:prstGeom prst="roundRect">
            <a:avLst/>
          </a:prstGeom>
          <a:solidFill>
            <a:srgbClr val="A94A43">
              <a:alpha val="100000"/>
            </a:srgbClr>
          </a:solidFill>
          <a:ln w="6350">
            <a:solidFill>
              <a:srgbClr val="A94A43"/>
            </a:solidFill>
          </a:ln>
        </p:spPr>
      </p:sp>
      <p:sp>
        <p:nvSpPr>
          <p:cNvPr id="25" name="Objeto editable 25"/>
          <p:cNvSpPr txBox="1"/>
          <p:nvPr/>
        </p:nvSpPr>
        <p:spPr>
          <a:xfrm>
            <a:off x="9881903" y="4147200"/>
            <a:ext cx="1331987" cy="144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850" b="1">
                <a:solidFill>
                  <a:srgbClr val="FFFFFF"/>
                </a:solidFill>
                <a:latin typeface="Liberation Sans"/>
              </a:rPr>
              <a:t>MIEMBRO / VISITANTE</a:t>
            </a:r>
            <a:endParaRPr lang="es-PE" sz="850"/>
          </a:p>
        </p:txBody>
      </p:sp>
      <p:sp>
        <p:nvSpPr>
          <p:cNvPr id="26" name="Objeto editable 26"/>
          <p:cNvSpPr txBox="1"/>
          <p:nvPr/>
        </p:nvSpPr>
        <p:spPr>
          <a:xfrm>
            <a:off x="9323908" y="4464000"/>
            <a:ext cx="2483976" cy="54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50" b="1">
                <a:solidFill>
                  <a:srgbClr val="6D6A64"/>
                </a:solidFill>
                <a:latin typeface="Liberation Sans"/>
              </a:rPr>
              <a:t>Participa según su perfil y permisos</a:t>
            </a:r>
            <a:endParaRPr lang="es-PE" sz="1050"/>
          </a:p>
        </p:txBody>
      </p:sp>
      <p:sp>
        <p:nvSpPr>
          <p:cNvPr id="27" name="Objeto editable 27"/>
          <p:cNvSpPr/>
          <p:nvPr/>
        </p:nvSpPr>
        <p:spPr>
          <a:xfrm>
            <a:off x="1079989" y="5436000"/>
            <a:ext cx="10007901" cy="540000"/>
          </a:xfrm>
          <a:prstGeom prst="roundRect">
            <a:avLst/>
          </a:prstGeom>
          <a:solidFill>
            <a:srgbClr val="F2EAD5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8" name="Objeto editable 28"/>
          <p:cNvSpPr txBox="1"/>
          <p:nvPr/>
        </p:nvSpPr>
        <p:spPr>
          <a:xfrm>
            <a:off x="1295987" y="5551200"/>
            <a:ext cx="9575906" cy="25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1150" b="1">
                <a:solidFill>
                  <a:srgbClr val="242424"/>
                </a:solidFill>
                <a:latin typeface="Liberation Sans"/>
              </a:rPr>
              <a:t>Principio: cada persona administra solo lo que le corresponde; los privilegios se auditan y revisan.</a:t>
            </a:r>
            <a:endParaRPr lang="es-PE" sz="1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F7F3EA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6D6A64"/>
                </a:solidFill>
                <a:latin typeface="Liberation Sans"/>
              </a:rPr>
              <a:t>12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VALOR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242424"/>
                </a:solidFill>
                <a:latin typeface="Liberation Serif"/>
              </a:rPr>
              <a:t>Beneficios concretos para cada audiencia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sp>
        <p:nvSpPr>
          <p:cNvPr id="8" name="Objeto editable 8"/>
          <p:cNvSpPr/>
          <p:nvPr/>
        </p:nvSpPr>
        <p:spPr>
          <a:xfrm>
            <a:off x="575994" y="1620000"/>
            <a:ext cx="5219949" cy="1080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9" name="Objeto editable 9"/>
          <p:cNvSpPr/>
          <p:nvPr/>
        </p:nvSpPr>
        <p:spPr>
          <a:xfrm>
            <a:off x="575994" y="1620000"/>
            <a:ext cx="611994" cy="1080000"/>
          </a:xfrm>
          <a:prstGeom prst="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0" name="Objeto editable 10"/>
          <p:cNvSpPr txBox="1"/>
          <p:nvPr/>
        </p:nvSpPr>
        <p:spPr>
          <a:xfrm>
            <a:off x="683993" y="1954800"/>
            <a:ext cx="395996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800" b="1">
                <a:solidFill>
                  <a:srgbClr val="FFFFFF"/>
                </a:solidFill>
                <a:latin typeface="Liberation Sans"/>
              </a:rPr>
              <a:t>01</a:t>
            </a:r>
            <a:endParaRPr lang="es-PE" sz="1800"/>
          </a:p>
        </p:txBody>
      </p:sp>
      <p:sp>
        <p:nvSpPr>
          <p:cNvPr id="11" name="Objeto editable 11"/>
          <p:cNvSpPr txBox="1"/>
          <p:nvPr/>
        </p:nvSpPr>
        <p:spPr>
          <a:xfrm>
            <a:off x="1403986" y="1782000"/>
            <a:ext cx="3959961" cy="21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 b="1">
                <a:solidFill>
                  <a:srgbClr val="C5A059"/>
                </a:solidFill>
                <a:latin typeface="Liberation Sans"/>
              </a:rPr>
              <a:t>LIDERAZGO</a:t>
            </a:r>
            <a:endParaRPr lang="es-PE" sz="1300"/>
          </a:p>
        </p:txBody>
      </p:sp>
      <p:sp>
        <p:nvSpPr>
          <p:cNvPr id="12" name="Objeto editable 12"/>
          <p:cNvSpPr txBox="1"/>
          <p:nvPr/>
        </p:nvSpPr>
        <p:spPr>
          <a:xfrm>
            <a:off x="1403986" y="2070000"/>
            <a:ext cx="3959961" cy="39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Visión de la red, estándares comunes y control de permisos</a:t>
            </a:r>
            <a:endParaRPr lang="es-PE" sz="1050"/>
          </a:p>
        </p:txBody>
      </p:sp>
      <p:sp>
        <p:nvSpPr>
          <p:cNvPr id="13" name="Objeto editable 13"/>
          <p:cNvSpPr/>
          <p:nvPr/>
        </p:nvSpPr>
        <p:spPr>
          <a:xfrm>
            <a:off x="6227939" y="1620000"/>
            <a:ext cx="5219949" cy="1080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14" name="Objeto editable 14"/>
          <p:cNvSpPr/>
          <p:nvPr/>
        </p:nvSpPr>
        <p:spPr>
          <a:xfrm>
            <a:off x="6227939" y="1620000"/>
            <a:ext cx="611994" cy="1080000"/>
          </a:xfrm>
          <a:prstGeom prst="rect">
            <a:avLst/>
          </a:prstGeom>
          <a:solidFill>
            <a:srgbClr val="87C45B">
              <a:alpha val="100000"/>
            </a:srgbClr>
          </a:solidFill>
          <a:ln w="6350">
            <a:solidFill>
              <a:srgbClr val="87C45B"/>
            </a:solidFill>
          </a:ln>
        </p:spPr>
      </p:sp>
      <p:sp>
        <p:nvSpPr>
          <p:cNvPr id="15" name="Objeto editable 15"/>
          <p:cNvSpPr txBox="1"/>
          <p:nvPr/>
        </p:nvSpPr>
        <p:spPr>
          <a:xfrm>
            <a:off x="6335938" y="1954800"/>
            <a:ext cx="395996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800" b="1">
                <a:solidFill>
                  <a:srgbClr val="FFFFFF"/>
                </a:solidFill>
                <a:latin typeface="Liberation Sans"/>
              </a:rPr>
              <a:t>02</a:t>
            </a:r>
            <a:endParaRPr lang="es-PE" sz="1800"/>
          </a:p>
        </p:txBody>
      </p:sp>
      <p:sp>
        <p:nvSpPr>
          <p:cNvPr id="16" name="Objeto editable 16"/>
          <p:cNvSpPr txBox="1"/>
          <p:nvPr/>
        </p:nvSpPr>
        <p:spPr>
          <a:xfrm>
            <a:off x="7055931" y="1782000"/>
            <a:ext cx="3959961" cy="21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 b="1">
                <a:solidFill>
                  <a:srgbClr val="87C45B"/>
                </a:solidFill>
                <a:latin typeface="Liberation Sans"/>
              </a:rPr>
              <a:t>PASTORES</a:t>
            </a:r>
            <a:endParaRPr lang="es-PE" sz="1300"/>
          </a:p>
        </p:txBody>
      </p:sp>
      <p:sp>
        <p:nvSpPr>
          <p:cNvPr id="17" name="Objeto editable 17"/>
          <p:cNvSpPr txBox="1"/>
          <p:nvPr/>
        </p:nvSpPr>
        <p:spPr>
          <a:xfrm>
            <a:off x="7055931" y="2070000"/>
            <a:ext cx="3959961" cy="39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Página local, publicación de recursos y vínculo con su comunidad</a:t>
            </a:r>
            <a:endParaRPr lang="es-PE" sz="1050"/>
          </a:p>
        </p:txBody>
      </p:sp>
      <p:sp>
        <p:nvSpPr>
          <p:cNvPr id="18" name="Objeto editable 18"/>
          <p:cNvSpPr/>
          <p:nvPr/>
        </p:nvSpPr>
        <p:spPr>
          <a:xfrm>
            <a:off x="575994" y="3024000"/>
            <a:ext cx="5219949" cy="1080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19" name="Objeto editable 19"/>
          <p:cNvSpPr/>
          <p:nvPr/>
        </p:nvSpPr>
        <p:spPr>
          <a:xfrm>
            <a:off x="575994" y="3024000"/>
            <a:ext cx="611994" cy="1080000"/>
          </a:xfrm>
          <a:prstGeom prst="rect">
            <a:avLst/>
          </a:prstGeom>
          <a:solidFill>
            <a:srgbClr val="36BBD3">
              <a:alpha val="100000"/>
            </a:srgbClr>
          </a:solidFill>
          <a:ln w="6350">
            <a:solidFill>
              <a:srgbClr val="36BBD3"/>
            </a:solidFill>
          </a:ln>
        </p:spPr>
      </p:sp>
      <p:sp>
        <p:nvSpPr>
          <p:cNvPr id="20" name="Objeto editable 20"/>
          <p:cNvSpPr txBox="1"/>
          <p:nvPr/>
        </p:nvSpPr>
        <p:spPr>
          <a:xfrm>
            <a:off x="683993" y="3358800"/>
            <a:ext cx="395996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800" b="1">
                <a:solidFill>
                  <a:srgbClr val="FFFFFF"/>
                </a:solidFill>
                <a:latin typeface="Liberation Sans"/>
              </a:rPr>
              <a:t>03</a:t>
            </a:r>
            <a:endParaRPr lang="es-PE" sz="1800"/>
          </a:p>
        </p:txBody>
      </p:sp>
      <p:sp>
        <p:nvSpPr>
          <p:cNvPr id="21" name="Objeto editable 21"/>
          <p:cNvSpPr txBox="1"/>
          <p:nvPr/>
        </p:nvSpPr>
        <p:spPr>
          <a:xfrm>
            <a:off x="1403986" y="3186000"/>
            <a:ext cx="3959961" cy="21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 b="1">
                <a:solidFill>
                  <a:srgbClr val="36BBD3"/>
                </a:solidFill>
                <a:latin typeface="Liberation Sans"/>
              </a:rPr>
              <a:t>MIEMBROS</a:t>
            </a:r>
            <a:endParaRPr lang="es-PE" sz="1300"/>
          </a:p>
        </p:txBody>
      </p:sp>
      <p:sp>
        <p:nvSpPr>
          <p:cNvPr id="22" name="Objeto editable 22"/>
          <p:cNvSpPr txBox="1"/>
          <p:nvPr/>
        </p:nvSpPr>
        <p:spPr>
          <a:xfrm>
            <a:off x="1403986" y="3474000"/>
            <a:ext cx="3959961" cy="39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Formación, materiales, eventos y participación</a:t>
            </a:r>
            <a:endParaRPr lang="es-PE" sz="1050"/>
          </a:p>
        </p:txBody>
      </p:sp>
      <p:sp>
        <p:nvSpPr>
          <p:cNvPr id="23" name="Objeto editable 23"/>
          <p:cNvSpPr/>
          <p:nvPr/>
        </p:nvSpPr>
        <p:spPr>
          <a:xfrm>
            <a:off x="6227939" y="3024000"/>
            <a:ext cx="5219949" cy="1080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4" name="Objeto editable 24"/>
          <p:cNvSpPr/>
          <p:nvPr/>
        </p:nvSpPr>
        <p:spPr>
          <a:xfrm>
            <a:off x="6227939" y="3024000"/>
            <a:ext cx="611994" cy="1080000"/>
          </a:xfrm>
          <a:prstGeom prst="rect">
            <a:avLst/>
          </a:prstGeom>
          <a:solidFill>
            <a:srgbClr val="A94A43">
              <a:alpha val="100000"/>
            </a:srgbClr>
          </a:solidFill>
          <a:ln w="6350">
            <a:solidFill>
              <a:srgbClr val="A94A43"/>
            </a:solidFill>
          </a:ln>
        </p:spPr>
      </p:sp>
      <p:sp>
        <p:nvSpPr>
          <p:cNvPr id="25" name="Objeto editable 25"/>
          <p:cNvSpPr txBox="1"/>
          <p:nvPr/>
        </p:nvSpPr>
        <p:spPr>
          <a:xfrm>
            <a:off x="6335938" y="3358800"/>
            <a:ext cx="395996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800" b="1">
                <a:solidFill>
                  <a:srgbClr val="FFFFFF"/>
                </a:solidFill>
                <a:latin typeface="Liberation Sans"/>
              </a:rPr>
              <a:t>04</a:t>
            </a:r>
            <a:endParaRPr lang="es-PE" sz="1800"/>
          </a:p>
        </p:txBody>
      </p:sp>
      <p:sp>
        <p:nvSpPr>
          <p:cNvPr id="26" name="Objeto editable 26"/>
          <p:cNvSpPr txBox="1"/>
          <p:nvPr/>
        </p:nvSpPr>
        <p:spPr>
          <a:xfrm>
            <a:off x="7055931" y="3186000"/>
            <a:ext cx="3959961" cy="21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 b="1">
                <a:solidFill>
                  <a:srgbClr val="A94A43"/>
                </a:solidFill>
                <a:latin typeface="Liberation Sans"/>
              </a:rPr>
              <a:t>VISITANTES</a:t>
            </a:r>
            <a:endParaRPr lang="es-PE" sz="1300"/>
          </a:p>
        </p:txBody>
      </p:sp>
      <p:sp>
        <p:nvSpPr>
          <p:cNvPr id="27" name="Objeto editable 27"/>
          <p:cNvSpPr txBox="1"/>
          <p:nvPr/>
        </p:nvSpPr>
        <p:spPr>
          <a:xfrm>
            <a:off x="7055931" y="3474000"/>
            <a:ext cx="3959961" cy="39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Ruta clara para conocer, aprender y encontrar una iglesia</a:t>
            </a:r>
            <a:endParaRPr lang="es-PE" sz="1050"/>
          </a:p>
        </p:txBody>
      </p:sp>
      <p:sp>
        <p:nvSpPr>
          <p:cNvPr id="28" name="Objeto editable 28"/>
          <p:cNvSpPr/>
          <p:nvPr/>
        </p:nvSpPr>
        <p:spPr>
          <a:xfrm>
            <a:off x="575994" y="4428000"/>
            <a:ext cx="5219949" cy="1080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9" name="Objeto editable 29"/>
          <p:cNvSpPr/>
          <p:nvPr/>
        </p:nvSpPr>
        <p:spPr>
          <a:xfrm>
            <a:off x="575994" y="4428000"/>
            <a:ext cx="611994" cy="1080000"/>
          </a:xfrm>
          <a:prstGeom prst="rect">
            <a:avLst/>
          </a:prstGeom>
          <a:solidFill>
            <a:srgbClr val="7B5EA7">
              <a:alpha val="100000"/>
            </a:srgbClr>
          </a:solidFill>
          <a:ln w="6350">
            <a:solidFill>
              <a:srgbClr val="7B5EA7"/>
            </a:solidFill>
          </a:ln>
        </p:spPr>
      </p:sp>
      <p:sp>
        <p:nvSpPr>
          <p:cNvPr id="30" name="Objeto editable 30"/>
          <p:cNvSpPr txBox="1"/>
          <p:nvPr/>
        </p:nvSpPr>
        <p:spPr>
          <a:xfrm>
            <a:off x="683993" y="4762800"/>
            <a:ext cx="395996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800" b="1">
                <a:solidFill>
                  <a:srgbClr val="FFFFFF"/>
                </a:solidFill>
                <a:latin typeface="Liberation Sans"/>
              </a:rPr>
              <a:t>05</a:t>
            </a:r>
            <a:endParaRPr lang="es-PE" sz="1800"/>
          </a:p>
        </p:txBody>
      </p:sp>
      <p:sp>
        <p:nvSpPr>
          <p:cNvPr id="31" name="Objeto editable 31"/>
          <p:cNvSpPr txBox="1"/>
          <p:nvPr/>
        </p:nvSpPr>
        <p:spPr>
          <a:xfrm>
            <a:off x="1403986" y="4590000"/>
            <a:ext cx="3959961" cy="21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 b="1">
                <a:solidFill>
                  <a:srgbClr val="7B5EA7"/>
                </a:solidFill>
                <a:latin typeface="Liberation Sans"/>
              </a:rPr>
              <a:t>EQUIPO DIGITAL</a:t>
            </a:r>
            <a:endParaRPr lang="es-PE" sz="1300"/>
          </a:p>
        </p:txBody>
      </p:sp>
      <p:sp>
        <p:nvSpPr>
          <p:cNvPr id="32" name="Objeto editable 32"/>
          <p:cNvSpPr txBox="1"/>
          <p:nvPr/>
        </p:nvSpPr>
        <p:spPr>
          <a:xfrm>
            <a:off x="1403986" y="4878000"/>
            <a:ext cx="3959961" cy="39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Modelos reutilizables, CMS y menor duplicación de contenido</a:t>
            </a:r>
            <a:endParaRPr lang="es-PE" sz="1050"/>
          </a:p>
        </p:txBody>
      </p:sp>
      <p:sp>
        <p:nvSpPr>
          <p:cNvPr id="33" name="Objeto editable 33"/>
          <p:cNvSpPr/>
          <p:nvPr/>
        </p:nvSpPr>
        <p:spPr>
          <a:xfrm>
            <a:off x="6227939" y="4428000"/>
            <a:ext cx="5219949" cy="1080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4" name="Objeto editable 34"/>
          <p:cNvSpPr/>
          <p:nvPr/>
        </p:nvSpPr>
        <p:spPr>
          <a:xfrm>
            <a:off x="6227939" y="4428000"/>
            <a:ext cx="611994" cy="1080000"/>
          </a:xfrm>
          <a:prstGeom prst="rect">
            <a:avLst/>
          </a:prstGeom>
          <a:solidFill>
            <a:srgbClr val="3F6D78">
              <a:alpha val="100000"/>
            </a:srgbClr>
          </a:solidFill>
          <a:ln w="6350">
            <a:solidFill>
              <a:srgbClr val="3F6D78"/>
            </a:solidFill>
          </a:ln>
        </p:spPr>
      </p:sp>
      <p:sp>
        <p:nvSpPr>
          <p:cNvPr id="35" name="Objeto editable 35"/>
          <p:cNvSpPr txBox="1"/>
          <p:nvPr/>
        </p:nvSpPr>
        <p:spPr>
          <a:xfrm>
            <a:off x="6335938" y="4762800"/>
            <a:ext cx="395996" cy="28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800" b="1">
                <a:solidFill>
                  <a:srgbClr val="FFFFFF"/>
                </a:solidFill>
                <a:latin typeface="Liberation Sans"/>
              </a:rPr>
              <a:t>06</a:t>
            </a:r>
            <a:endParaRPr lang="es-PE" sz="1800"/>
          </a:p>
        </p:txBody>
      </p:sp>
      <p:sp>
        <p:nvSpPr>
          <p:cNvPr id="36" name="Objeto editable 36"/>
          <p:cNvSpPr txBox="1"/>
          <p:nvPr/>
        </p:nvSpPr>
        <p:spPr>
          <a:xfrm>
            <a:off x="7055931" y="4590000"/>
            <a:ext cx="3959961" cy="21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 b="1">
                <a:solidFill>
                  <a:srgbClr val="3F6D78"/>
                </a:solidFill>
                <a:latin typeface="Liberation Sans"/>
              </a:rPr>
              <a:t>RED INTERNACIONAL</a:t>
            </a:r>
            <a:endParaRPr lang="es-PE" sz="1300"/>
          </a:p>
        </p:txBody>
      </p:sp>
      <p:sp>
        <p:nvSpPr>
          <p:cNvPr id="37" name="Objeto editable 37"/>
          <p:cNvSpPr txBox="1"/>
          <p:nvPr/>
        </p:nvSpPr>
        <p:spPr>
          <a:xfrm>
            <a:off x="7055931" y="4878000"/>
            <a:ext cx="3959961" cy="39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Directorio estructurado y crecimiento por países y ciudades</a:t>
            </a:r>
            <a:endParaRPr lang="es-PE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FFFFFF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6D6A64"/>
                </a:solidFill>
                <a:latin typeface="Liberation Sans"/>
              </a:rPr>
              <a:t>13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IMPLEMENTACIÓN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242424"/>
                </a:solidFill>
                <a:latin typeface="Liberation Serif"/>
              </a:rPr>
              <a:t>Un piloto controlado en cuatro etapas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sp>
        <p:nvSpPr>
          <p:cNvPr id="8" name="Objeto editable 8"/>
          <p:cNvSpPr/>
          <p:nvPr/>
        </p:nvSpPr>
        <p:spPr>
          <a:xfrm>
            <a:off x="1223988" y="2916000"/>
            <a:ext cx="9719904" cy="360"/>
          </a:xfrm>
          <a:prstGeom prst="line">
            <a:avLst/>
          </a:prstGeom>
          <a:noFill/>
          <a:ln w="50400">
            <a:solidFill>
              <a:srgbClr val="E7D7AA"/>
            </a:solidFill>
          </a:ln>
        </p:spPr>
      </p:sp>
      <p:sp>
        <p:nvSpPr>
          <p:cNvPr id="9" name="Objeto editable 9"/>
          <p:cNvSpPr/>
          <p:nvPr/>
        </p:nvSpPr>
        <p:spPr>
          <a:xfrm>
            <a:off x="1511985" y="2484000"/>
            <a:ext cx="539995" cy="540000"/>
          </a:xfrm>
          <a:prstGeom prst="round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0" name="Objeto editable 10"/>
          <p:cNvSpPr txBox="1"/>
          <p:nvPr/>
        </p:nvSpPr>
        <p:spPr>
          <a:xfrm>
            <a:off x="1511985" y="2574000"/>
            <a:ext cx="539995" cy="25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1800" b="1">
                <a:solidFill>
                  <a:srgbClr val="FFFFFF"/>
                </a:solidFill>
                <a:latin typeface="Liberation Sans"/>
              </a:rPr>
              <a:t>1</a:t>
            </a:r>
            <a:endParaRPr lang="es-PE" sz="1800"/>
          </a:p>
        </p:txBody>
      </p:sp>
      <p:sp>
        <p:nvSpPr>
          <p:cNvPr id="11" name="Objeto editable 11"/>
          <p:cNvSpPr txBox="1"/>
          <p:nvPr/>
        </p:nvSpPr>
        <p:spPr>
          <a:xfrm>
            <a:off x="719993" y="3312000"/>
            <a:ext cx="2123979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400" b="1">
                <a:solidFill>
                  <a:srgbClr val="C5A059"/>
                </a:solidFill>
                <a:latin typeface="Liberation Sans"/>
              </a:rPr>
              <a:t>VALIDAR</a:t>
            </a:r>
            <a:endParaRPr lang="es-PE" sz="1400"/>
          </a:p>
        </p:txBody>
      </p:sp>
      <p:sp>
        <p:nvSpPr>
          <p:cNvPr id="12" name="Objeto editable 12"/>
          <p:cNvSpPr/>
          <p:nvPr/>
        </p:nvSpPr>
        <p:spPr>
          <a:xfrm>
            <a:off x="1241988" y="3618000"/>
            <a:ext cx="1079989" cy="234000"/>
          </a:xfrm>
          <a:prstGeom prst="round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111111"/>
            </a:solidFill>
          </a:ln>
        </p:spPr>
      </p:sp>
      <p:sp>
        <p:nvSpPr>
          <p:cNvPr id="13" name="Objeto editable 13"/>
          <p:cNvSpPr txBox="1"/>
          <p:nvPr/>
        </p:nvSpPr>
        <p:spPr>
          <a:xfrm>
            <a:off x="1306787" y="3646800"/>
            <a:ext cx="950391" cy="16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900" b="1">
                <a:solidFill>
                  <a:srgbClr val="FFFFFF"/>
                </a:solidFill>
                <a:latin typeface="Liberation Sans"/>
              </a:rPr>
              <a:t>2 semanas</a:t>
            </a:r>
            <a:endParaRPr lang="es-PE" sz="900"/>
          </a:p>
        </p:txBody>
      </p:sp>
      <p:sp>
        <p:nvSpPr>
          <p:cNvPr id="14" name="Objeto editable 14"/>
          <p:cNvSpPr txBox="1"/>
          <p:nvPr/>
        </p:nvSpPr>
        <p:spPr>
          <a:xfrm>
            <a:off x="809992" y="4032000"/>
            <a:ext cx="1943981" cy="75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50">
                <a:solidFill>
                  <a:srgbClr val="6D6A64"/>
                </a:solidFill>
                <a:latin typeface="Liberation Sans"/>
              </a:rPr>
              <a:t>Contenido, roles, vocabulario y alcance del piloto</a:t>
            </a:r>
            <a:endParaRPr lang="es-PE" sz="1050"/>
          </a:p>
        </p:txBody>
      </p:sp>
      <p:sp>
        <p:nvSpPr>
          <p:cNvPr id="15" name="Objeto editable 15"/>
          <p:cNvSpPr/>
          <p:nvPr/>
        </p:nvSpPr>
        <p:spPr>
          <a:xfrm>
            <a:off x="4355957" y="2484000"/>
            <a:ext cx="539995" cy="540000"/>
          </a:xfrm>
          <a:prstGeom prst="roundRect">
            <a:avLst/>
          </a:prstGeom>
          <a:solidFill>
            <a:srgbClr val="36BBD3">
              <a:alpha val="100000"/>
            </a:srgbClr>
          </a:solidFill>
          <a:ln w="6350">
            <a:solidFill>
              <a:srgbClr val="36BBD3"/>
            </a:solidFill>
          </a:ln>
        </p:spPr>
      </p:sp>
      <p:sp>
        <p:nvSpPr>
          <p:cNvPr id="16" name="Objeto editable 16"/>
          <p:cNvSpPr txBox="1"/>
          <p:nvPr/>
        </p:nvSpPr>
        <p:spPr>
          <a:xfrm>
            <a:off x="4355957" y="2574000"/>
            <a:ext cx="539995" cy="25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1800" b="1">
                <a:solidFill>
                  <a:srgbClr val="FFFFFF"/>
                </a:solidFill>
                <a:latin typeface="Liberation Sans"/>
              </a:rPr>
              <a:t>2</a:t>
            </a:r>
            <a:endParaRPr lang="es-PE" sz="1800"/>
          </a:p>
        </p:txBody>
      </p:sp>
      <p:sp>
        <p:nvSpPr>
          <p:cNvPr id="17" name="Objeto editable 17"/>
          <p:cNvSpPr txBox="1"/>
          <p:nvPr/>
        </p:nvSpPr>
        <p:spPr>
          <a:xfrm>
            <a:off x="3563965" y="3312000"/>
            <a:ext cx="2123979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400" b="1">
                <a:solidFill>
                  <a:srgbClr val="36BBD3"/>
                </a:solidFill>
                <a:latin typeface="Liberation Sans"/>
              </a:rPr>
              <a:t>PREPARAR</a:t>
            </a:r>
            <a:endParaRPr lang="es-PE" sz="1400"/>
          </a:p>
        </p:txBody>
      </p:sp>
      <p:sp>
        <p:nvSpPr>
          <p:cNvPr id="18" name="Objeto editable 18"/>
          <p:cNvSpPr/>
          <p:nvPr/>
        </p:nvSpPr>
        <p:spPr>
          <a:xfrm>
            <a:off x="4085960" y="3618000"/>
            <a:ext cx="1079989" cy="234000"/>
          </a:xfrm>
          <a:prstGeom prst="round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111111"/>
            </a:solidFill>
          </a:ln>
        </p:spPr>
      </p:sp>
      <p:sp>
        <p:nvSpPr>
          <p:cNvPr id="19" name="Objeto editable 19"/>
          <p:cNvSpPr txBox="1"/>
          <p:nvPr/>
        </p:nvSpPr>
        <p:spPr>
          <a:xfrm>
            <a:off x="4150759" y="3646800"/>
            <a:ext cx="950391" cy="16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900" b="1">
                <a:solidFill>
                  <a:srgbClr val="FFFFFF"/>
                </a:solidFill>
                <a:latin typeface="Liberation Sans"/>
              </a:rPr>
              <a:t>2–3 semanas</a:t>
            </a:r>
            <a:endParaRPr lang="es-PE" sz="900"/>
          </a:p>
        </p:txBody>
      </p:sp>
      <p:sp>
        <p:nvSpPr>
          <p:cNvPr id="20" name="Objeto editable 20"/>
          <p:cNvSpPr txBox="1"/>
          <p:nvPr/>
        </p:nvSpPr>
        <p:spPr>
          <a:xfrm>
            <a:off x="3653964" y="4032000"/>
            <a:ext cx="1943981" cy="75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50">
                <a:solidFill>
                  <a:srgbClr val="6D6A64"/>
                </a:solidFill>
                <a:latin typeface="Liberation Sans"/>
              </a:rPr>
              <a:t>Hosting, dominio, seguridad, respaldos y analítica</a:t>
            </a:r>
            <a:endParaRPr lang="es-PE" sz="1050"/>
          </a:p>
        </p:txBody>
      </p:sp>
      <p:sp>
        <p:nvSpPr>
          <p:cNvPr id="21" name="Objeto editable 21"/>
          <p:cNvSpPr/>
          <p:nvPr/>
        </p:nvSpPr>
        <p:spPr>
          <a:xfrm>
            <a:off x="7199929" y="2484000"/>
            <a:ext cx="539995" cy="540000"/>
          </a:xfrm>
          <a:prstGeom prst="roundRect">
            <a:avLst/>
          </a:prstGeom>
          <a:solidFill>
            <a:srgbClr val="87C45B">
              <a:alpha val="100000"/>
            </a:srgbClr>
          </a:solidFill>
          <a:ln w="6350">
            <a:solidFill>
              <a:srgbClr val="87C45B"/>
            </a:solidFill>
          </a:ln>
        </p:spPr>
      </p:sp>
      <p:sp>
        <p:nvSpPr>
          <p:cNvPr id="22" name="Objeto editable 22"/>
          <p:cNvSpPr txBox="1"/>
          <p:nvPr/>
        </p:nvSpPr>
        <p:spPr>
          <a:xfrm>
            <a:off x="7199929" y="2574000"/>
            <a:ext cx="539995" cy="25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1800" b="1">
                <a:solidFill>
                  <a:srgbClr val="FFFFFF"/>
                </a:solidFill>
                <a:latin typeface="Liberation Sans"/>
              </a:rPr>
              <a:t>3</a:t>
            </a:r>
            <a:endParaRPr lang="es-PE" sz="1800"/>
          </a:p>
        </p:txBody>
      </p:sp>
      <p:sp>
        <p:nvSpPr>
          <p:cNvPr id="23" name="Objeto editable 23"/>
          <p:cNvSpPr txBox="1"/>
          <p:nvPr/>
        </p:nvSpPr>
        <p:spPr>
          <a:xfrm>
            <a:off x="6407937" y="3312000"/>
            <a:ext cx="2123979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400" b="1">
                <a:solidFill>
                  <a:srgbClr val="87C45B"/>
                </a:solidFill>
                <a:latin typeface="Liberation Sans"/>
              </a:rPr>
              <a:t>PILOTEAR</a:t>
            </a:r>
            <a:endParaRPr lang="es-PE" sz="1400"/>
          </a:p>
        </p:txBody>
      </p:sp>
      <p:sp>
        <p:nvSpPr>
          <p:cNvPr id="24" name="Objeto editable 24"/>
          <p:cNvSpPr/>
          <p:nvPr/>
        </p:nvSpPr>
        <p:spPr>
          <a:xfrm>
            <a:off x="6929932" y="3618000"/>
            <a:ext cx="1079989" cy="234000"/>
          </a:xfrm>
          <a:prstGeom prst="round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111111"/>
            </a:solidFill>
          </a:ln>
        </p:spPr>
      </p:sp>
      <p:sp>
        <p:nvSpPr>
          <p:cNvPr id="25" name="Objeto editable 25"/>
          <p:cNvSpPr txBox="1"/>
          <p:nvPr/>
        </p:nvSpPr>
        <p:spPr>
          <a:xfrm>
            <a:off x="6994731" y="3646800"/>
            <a:ext cx="950391" cy="16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900" b="1">
                <a:solidFill>
                  <a:srgbClr val="FFFFFF"/>
                </a:solidFill>
                <a:latin typeface="Liberation Sans"/>
              </a:rPr>
              <a:t>4 semanas</a:t>
            </a:r>
            <a:endParaRPr lang="es-PE" sz="900"/>
          </a:p>
        </p:txBody>
      </p:sp>
      <p:sp>
        <p:nvSpPr>
          <p:cNvPr id="26" name="Objeto editable 26"/>
          <p:cNvSpPr txBox="1"/>
          <p:nvPr/>
        </p:nvSpPr>
        <p:spPr>
          <a:xfrm>
            <a:off x="6497936" y="4032000"/>
            <a:ext cx="1943981" cy="75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50">
                <a:solidFill>
                  <a:srgbClr val="6D6A64"/>
                </a:solidFill>
                <a:latin typeface="Liberation Sans"/>
              </a:rPr>
              <a:t>Los Ángeles + 2 iglesias de cobertura</a:t>
            </a:r>
            <a:endParaRPr lang="es-PE" sz="1050"/>
          </a:p>
        </p:txBody>
      </p:sp>
      <p:sp>
        <p:nvSpPr>
          <p:cNvPr id="27" name="Objeto editable 27"/>
          <p:cNvSpPr/>
          <p:nvPr/>
        </p:nvSpPr>
        <p:spPr>
          <a:xfrm>
            <a:off x="10043901" y="2484000"/>
            <a:ext cx="539995" cy="540000"/>
          </a:xfrm>
          <a:prstGeom prst="roundRect">
            <a:avLst/>
          </a:prstGeom>
          <a:solidFill>
            <a:srgbClr val="A94A43">
              <a:alpha val="100000"/>
            </a:srgbClr>
          </a:solidFill>
          <a:ln w="6350">
            <a:solidFill>
              <a:srgbClr val="A94A43"/>
            </a:solidFill>
          </a:ln>
        </p:spPr>
      </p:sp>
      <p:sp>
        <p:nvSpPr>
          <p:cNvPr id="28" name="Objeto editable 28"/>
          <p:cNvSpPr txBox="1"/>
          <p:nvPr/>
        </p:nvSpPr>
        <p:spPr>
          <a:xfrm>
            <a:off x="10043901" y="2574000"/>
            <a:ext cx="539995" cy="25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1800" b="1">
                <a:solidFill>
                  <a:srgbClr val="FFFFFF"/>
                </a:solidFill>
                <a:latin typeface="Liberation Sans"/>
              </a:rPr>
              <a:t>4</a:t>
            </a:r>
            <a:endParaRPr lang="es-PE" sz="1800"/>
          </a:p>
        </p:txBody>
      </p:sp>
      <p:sp>
        <p:nvSpPr>
          <p:cNvPr id="29" name="Objeto editable 29"/>
          <p:cNvSpPr txBox="1"/>
          <p:nvPr/>
        </p:nvSpPr>
        <p:spPr>
          <a:xfrm>
            <a:off x="9251909" y="3312000"/>
            <a:ext cx="2123979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400" b="1">
                <a:solidFill>
                  <a:srgbClr val="A94A43"/>
                </a:solidFill>
                <a:latin typeface="Liberation Sans"/>
              </a:rPr>
              <a:t>DECIDIR</a:t>
            </a:r>
            <a:endParaRPr lang="es-PE" sz="1400"/>
          </a:p>
        </p:txBody>
      </p:sp>
      <p:sp>
        <p:nvSpPr>
          <p:cNvPr id="30" name="Objeto editable 30"/>
          <p:cNvSpPr/>
          <p:nvPr/>
        </p:nvSpPr>
        <p:spPr>
          <a:xfrm>
            <a:off x="9773904" y="3618000"/>
            <a:ext cx="1079989" cy="234000"/>
          </a:xfrm>
          <a:prstGeom prst="round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111111"/>
            </a:solidFill>
          </a:ln>
        </p:spPr>
      </p:sp>
      <p:sp>
        <p:nvSpPr>
          <p:cNvPr id="31" name="Objeto editable 31"/>
          <p:cNvSpPr txBox="1"/>
          <p:nvPr/>
        </p:nvSpPr>
        <p:spPr>
          <a:xfrm>
            <a:off x="9838703" y="3646800"/>
            <a:ext cx="950391" cy="162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900" b="1">
                <a:solidFill>
                  <a:srgbClr val="FFFFFF"/>
                </a:solidFill>
                <a:latin typeface="Liberation Sans"/>
              </a:rPr>
              <a:t>1 semana</a:t>
            </a:r>
            <a:endParaRPr lang="es-PE" sz="900"/>
          </a:p>
        </p:txBody>
      </p:sp>
      <p:sp>
        <p:nvSpPr>
          <p:cNvPr id="32" name="Objeto editable 32"/>
          <p:cNvSpPr txBox="1"/>
          <p:nvPr/>
        </p:nvSpPr>
        <p:spPr>
          <a:xfrm>
            <a:off x="9341908" y="4032000"/>
            <a:ext cx="1943981" cy="75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050">
                <a:solidFill>
                  <a:srgbClr val="6D6A64"/>
                </a:solidFill>
                <a:latin typeface="Liberation Sans"/>
              </a:rPr>
              <a:t>Medir, corregir y aprobar expansión gradual</a:t>
            </a:r>
            <a:endParaRPr lang="es-PE" sz="1050"/>
          </a:p>
        </p:txBody>
      </p:sp>
      <p:sp>
        <p:nvSpPr>
          <p:cNvPr id="33" name="Objeto editable 33"/>
          <p:cNvSpPr/>
          <p:nvPr/>
        </p:nvSpPr>
        <p:spPr>
          <a:xfrm>
            <a:off x="791992" y="5328000"/>
            <a:ext cx="10583896" cy="468000"/>
          </a:xfrm>
          <a:prstGeom prst="roundRect">
            <a:avLst/>
          </a:prstGeom>
          <a:solidFill>
            <a:srgbClr val="E7F1DD">
              <a:alpha val="100000"/>
            </a:srgbClr>
          </a:solidFill>
          <a:ln w="6350">
            <a:solidFill>
              <a:srgbClr val="BAD5A4"/>
            </a:solidFill>
          </a:ln>
        </p:spPr>
      </p:sp>
      <p:sp>
        <p:nvSpPr>
          <p:cNvPr id="34" name="Objeto editable 34"/>
          <p:cNvSpPr txBox="1"/>
          <p:nvPr/>
        </p:nvSpPr>
        <p:spPr>
          <a:xfrm>
            <a:off x="1007990" y="5436000"/>
            <a:ext cx="10151900" cy="234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1100" b="1">
                <a:solidFill>
                  <a:srgbClr val="275B34"/>
                </a:solidFill>
                <a:latin typeface="Liberation Sans"/>
              </a:rPr>
              <a:t>El sitio vigente puede mantenerse activo durante todo el piloto; no se requiere una migración inmediata.</a:t>
            </a:r>
            <a:endParaRPr lang="es-PE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>
              <a:alpha val="100000"/>
            </a:srgbClr>
          </a:solidFill>
          <a:ln w="6350">
            <a:solidFill>
              <a:srgbClr val="F7F3EA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6D6A64"/>
                </a:solidFill>
                <a:latin typeface="Liberation Sans"/>
              </a:rPr>
              <a:t>14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ANTES DE PRODUCCIÓN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242424"/>
                </a:solidFill>
                <a:latin typeface="Liberation Serif"/>
              </a:rPr>
              <a:t>Controles y métricas para una decisión responsable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sp>
        <p:nvSpPr>
          <p:cNvPr id="8" name="Objeto editable 8"/>
          <p:cNvSpPr/>
          <p:nvPr/>
        </p:nvSpPr>
        <p:spPr>
          <a:xfrm>
            <a:off x="539995" y="1584000"/>
            <a:ext cx="5255948" cy="1080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9" name="Objeto editable 9"/>
          <p:cNvSpPr/>
          <p:nvPr/>
        </p:nvSpPr>
        <p:spPr>
          <a:xfrm>
            <a:off x="539995" y="1584000"/>
            <a:ext cx="50400" cy="1080000"/>
          </a:xfrm>
          <a:prstGeom prst="rect">
            <a:avLst/>
          </a:prstGeom>
          <a:solidFill>
            <a:srgbClr val="A94A43">
              <a:alpha val="100000"/>
            </a:srgbClr>
          </a:solidFill>
          <a:ln w="6350">
            <a:solidFill>
              <a:srgbClr val="A94A43"/>
            </a:solidFill>
          </a:ln>
        </p:spPr>
      </p:sp>
      <p:sp>
        <p:nvSpPr>
          <p:cNvPr id="10" name="Objeto editable 10"/>
          <p:cNvSpPr txBox="1"/>
          <p:nvPr/>
        </p:nvSpPr>
        <p:spPr>
          <a:xfrm>
            <a:off x="755993" y="1710000"/>
            <a:ext cx="4895952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500" b="1">
                <a:solidFill>
                  <a:srgbClr val="242424"/>
                </a:solidFill>
                <a:latin typeface="Liberation Sans"/>
              </a:rPr>
              <a:t>SEGURIDAD</a:t>
            </a:r>
            <a:endParaRPr lang="es-PE" sz="1500"/>
          </a:p>
        </p:txBody>
      </p:sp>
      <p:sp>
        <p:nvSpPr>
          <p:cNvPr id="11" name="Objeto editable 11"/>
          <p:cNvSpPr txBox="1"/>
          <p:nvPr/>
        </p:nvSpPr>
        <p:spPr>
          <a:xfrm>
            <a:off x="755993" y="2016000"/>
            <a:ext cx="4859952" cy="54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Revisión de acceso, secretos, formularios, sesiones y dependencias</a:t>
            </a:r>
            <a:endParaRPr lang="es-PE" sz="1050"/>
          </a:p>
        </p:txBody>
      </p:sp>
      <p:sp>
        <p:nvSpPr>
          <p:cNvPr id="12" name="Objeto editable 12"/>
          <p:cNvSpPr/>
          <p:nvPr/>
        </p:nvSpPr>
        <p:spPr>
          <a:xfrm>
            <a:off x="6299938" y="1584000"/>
            <a:ext cx="5255948" cy="1080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13" name="Objeto editable 13"/>
          <p:cNvSpPr/>
          <p:nvPr/>
        </p:nvSpPr>
        <p:spPr>
          <a:xfrm>
            <a:off x="6299938" y="1584000"/>
            <a:ext cx="50400" cy="1080000"/>
          </a:xfrm>
          <a:prstGeom prst="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4" name="Objeto editable 14"/>
          <p:cNvSpPr txBox="1"/>
          <p:nvPr/>
        </p:nvSpPr>
        <p:spPr>
          <a:xfrm>
            <a:off x="6515936" y="1710000"/>
            <a:ext cx="4895952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500" b="1">
                <a:solidFill>
                  <a:srgbClr val="242424"/>
                </a:solidFill>
                <a:latin typeface="Liberation Sans"/>
              </a:rPr>
              <a:t>CONTENIDO</a:t>
            </a:r>
            <a:endParaRPr lang="es-PE" sz="1500"/>
          </a:p>
        </p:txBody>
      </p:sp>
      <p:sp>
        <p:nvSpPr>
          <p:cNvPr id="15" name="Objeto editable 15"/>
          <p:cNvSpPr txBox="1"/>
          <p:nvPr/>
        </p:nvSpPr>
        <p:spPr>
          <a:xfrm>
            <a:off x="6515936" y="2016000"/>
            <a:ext cx="4859952" cy="54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Aprobación doctrinal, estilo editorial y responsables por sección</a:t>
            </a:r>
            <a:endParaRPr lang="es-PE" sz="1050"/>
          </a:p>
        </p:txBody>
      </p:sp>
      <p:sp>
        <p:nvSpPr>
          <p:cNvPr id="16" name="Objeto editable 16"/>
          <p:cNvSpPr/>
          <p:nvPr/>
        </p:nvSpPr>
        <p:spPr>
          <a:xfrm>
            <a:off x="539995" y="2916000"/>
            <a:ext cx="5255948" cy="1080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17" name="Objeto editable 17"/>
          <p:cNvSpPr/>
          <p:nvPr/>
        </p:nvSpPr>
        <p:spPr>
          <a:xfrm>
            <a:off x="539995" y="2916000"/>
            <a:ext cx="50400" cy="1080000"/>
          </a:xfrm>
          <a:prstGeom prst="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8" name="Objeto editable 18"/>
          <p:cNvSpPr txBox="1"/>
          <p:nvPr/>
        </p:nvSpPr>
        <p:spPr>
          <a:xfrm>
            <a:off x="755993" y="3042000"/>
            <a:ext cx="4895952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500" b="1">
                <a:solidFill>
                  <a:srgbClr val="242424"/>
                </a:solidFill>
                <a:latin typeface="Liberation Sans"/>
              </a:rPr>
              <a:t>OPERACIÓN</a:t>
            </a:r>
            <a:endParaRPr lang="es-PE" sz="1500"/>
          </a:p>
        </p:txBody>
      </p:sp>
      <p:sp>
        <p:nvSpPr>
          <p:cNvPr id="19" name="Objeto editable 19"/>
          <p:cNvSpPr txBox="1"/>
          <p:nvPr/>
        </p:nvSpPr>
        <p:spPr>
          <a:xfrm>
            <a:off x="755993" y="3348000"/>
            <a:ext cx="4859952" cy="54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Hosting, dominio, respaldos, recuperación y monitoreo</a:t>
            </a:r>
            <a:endParaRPr lang="es-PE" sz="1050"/>
          </a:p>
        </p:txBody>
      </p:sp>
      <p:sp>
        <p:nvSpPr>
          <p:cNvPr id="20" name="Objeto editable 20"/>
          <p:cNvSpPr/>
          <p:nvPr/>
        </p:nvSpPr>
        <p:spPr>
          <a:xfrm>
            <a:off x="6299938" y="2916000"/>
            <a:ext cx="5255948" cy="1080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1" name="Objeto editable 21"/>
          <p:cNvSpPr/>
          <p:nvPr/>
        </p:nvSpPr>
        <p:spPr>
          <a:xfrm>
            <a:off x="6299938" y="2916000"/>
            <a:ext cx="50400" cy="1080000"/>
          </a:xfrm>
          <a:prstGeom prst="rect">
            <a:avLst/>
          </a:prstGeom>
          <a:solidFill>
            <a:srgbClr val="A94A43">
              <a:alpha val="100000"/>
            </a:srgbClr>
          </a:solidFill>
          <a:ln w="6350">
            <a:solidFill>
              <a:srgbClr val="A94A43"/>
            </a:solidFill>
          </a:ln>
        </p:spPr>
      </p:sp>
      <p:sp>
        <p:nvSpPr>
          <p:cNvPr id="22" name="Objeto editable 22"/>
          <p:cNvSpPr txBox="1"/>
          <p:nvPr/>
        </p:nvSpPr>
        <p:spPr>
          <a:xfrm>
            <a:off x="6515936" y="3042000"/>
            <a:ext cx="4895952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500" b="1">
                <a:solidFill>
                  <a:srgbClr val="242424"/>
                </a:solidFill>
                <a:latin typeface="Liberation Sans"/>
              </a:rPr>
              <a:t>PRIVACIDAD</a:t>
            </a:r>
            <a:endParaRPr lang="es-PE" sz="1500"/>
          </a:p>
        </p:txBody>
      </p:sp>
      <p:sp>
        <p:nvSpPr>
          <p:cNvPr id="23" name="Objeto editable 23"/>
          <p:cNvSpPr txBox="1"/>
          <p:nvPr/>
        </p:nvSpPr>
        <p:spPr>
          <a:xfrm>
            <a:off x="6515936" y="3348000"/>
            <a:ext cx="4859952" cy="54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50">
                <a:solidFill>
                  <a:srgbClr val="6D6A64"/>
                </a:solidFill>
                <a:latin typeface="Liberation Sans"/>
              </a:rPr>
              <a:t>Política de datos, consentimiento y tratamiento de perfiles</a:t>
            </a:r>
            <a:endParaRPr lang="es-PE" sz="1050"/>
          </a:p>
        </p:txBody>
      </p:sp>
      <p:sp>
        <p:nvSpPr>
          <p:cNvPr id="24" name="Objeto editable 24"/>
          <p:cNvSpPr txBox="1"/>
          <p:nvPr/>
        </p:nvSpPr>
        <p:spPr>
          <a:xfrm>
            <a:off x="575994" y="4500000"/>
            <a:ext cx="3239968" cy="21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300" b="1">
                <a:solidFill>
                  <a:srgbClr val="C5A059"/>
                </a:solidFill>
                <a:latin typeface="Liberation Sans"/>
              </a:rPr>
              <a:t>MÉTRICAS DEL PILOTO</a:t>
            </a:r>
            <a:endParaRPr lang="es-PE" sz="1300"/>
          </a:p>
        </p:txBody>
      </p:sp>
      <p:sp>
        <p:nvSpPr>
          <p:cNvPr id="25" name="Objeto editable 25"/>
          <p:cNvSpPr/>
          <p:nvPr/>
        </p:nvSpPr>
        <p:spPr>
          <a:xfrm>
            <a:off x="575994" y="4896000"/>
            <a:ext cx="2015980" cy="684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6" name="Objeto editable 26"/>
          <p:cNvSpPr txBox="1"/>
          <p:nvPr/>
        </p:nvSpPr>
        <p:spPr>
          <a:xfrm>
            <a:off x="683993" y="5040000"/>
            <a:ext cx="1799982" cy="360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950" b="1">
                <a:solidFill>
                  <a:srgbClr val="242424"/>
                </a:solidFill>
                <a:latin typeface="Liberation Sans"/>
              </a:rPr>
              <a:t>Contenido aprobado y publicado</a:t>
            </a:r>
            <a:endParaRPr lang="es-PE" sz="950"/>
          </a:p>
        </p:txBody>
      </p:sp>
      <p:sp>
        <p:nvSpPr>
          <p:cNvPr id="27" name="Objeto editable 27"/>
          <p:cNvSpPr/>
          <p:nvPr/>
        </p:nvSpPr>
        <p:spPr>
          <a:xfrm>
            <a:off x="2807972" y="4896000"/>
            <a:ext cx="2015980" cy="684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8" name="Objeto editable 28"/>
          <p:cNvSpPr txBox="1"/>
          <p:nvPr/>
        </p:nvSpPr>
        <p:spPr>
          <a:xfrm>
            <a:off x="2915971" y="5040000"/>
            <a:ext cx="1799982" cy="360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950" b="1">
                <a:solidFill>
                  <a:srgbClr val="242424"/>
                </a:solidFill>
                <a:latin typeface="Liberation Sans"/>
              </a:rPr>
              <a:t>Actualización por responsables locales</a:t>
            </a:r>
            <a:endParaRPr lang="es-PE" sz="950"/>
          </a:p>
        </p:txBody>
      </p:sp>
      <p:sp>
        <p:nvSpPr>
          <p:cNvPr id="29" name="Objeto editable 29"/>
          <p:cNvSpPr/>
          <p:nvPr/>
        </p:nvSpPr>
        <p:spPr>
          <a:xfrm>
            <a:off x="5039950" y="4896000"/>
            <a:ext cx="2015980" cy="684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0" name="Objeto editable 30"/>
          <p:cNvSpPr txBox="1"/>
          <p:nvPr/>
        </p:nvSpPr>
        <p:spPr>
          <a:xfrm>
            <a:off x="5147949" y="5040000"/>
            <a:ext cx="1799982" cy="360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950" b="1">
                <a:solidFill>
                  <a:srgbClr val="242424"/>
                </a:solidFill>
                <a:latin typeface="Liberation Sans"/>
              </a:rPr>
              <a:t>Búsquedas y rutas completadas</a:t>
            </a:r>
            <a:endParaRPr lang="es-PE" sz="950"/>
          </a:p>
        </p:txBody>
      </p:sp>
      <p:sp>
        <p:nvSpPr>
          <p:cNvPr id="31" name="Objeto editable 31"/>
          <p:cNvSpPr/>
          <p:nvPr/>
        </p:nvSpPr>
        <p:spPr>
          <a:xfrm>
            <a:off x="7271928" y="4896000"/>
            <a:ext cx="2015980" cy="684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2" name="Objeto editable 32"/>
          <p:cNvSpPr txBox="1"/>
          <p:nvPr/>
        </p:nvSpPr>
        <p:spPr>
          <a:xfrm>
            <a:off x="7379927" y="5040000"/>
            <a:ext cx="1799982" cy="360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950" b="1">
                <a:solidFill>
                  <a:srgbClr val="242424"/>
                </a:solidFill>
                <a:latin typeface="Liberation Sans"/>
              </a:rPr>
              <a:t>Registro y participación</a:t>
            </a:r>
            <a:endParaRPr lang="es-PE" sz="950"/>
          </a:p>
        </p:txBody>
      </p:sp>
      <p:sp>
        <p:nvSpPr>
          <p:cNvPr id="33" name="Objeto editable 33"/>
          <p:cNvSpPr/>
          <p:nvPr/>
        </p:nvSpPr>
        <p:spPr>
          <a:xfrm>
            <a:off x="9503906" y="4896000"/>
            <a:ext cx="2015980" cy="68400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34" name="Objeto editable 34"/>
          <p:cNvSpPr txBox="1"/>
          <p:nvPr/>
        </p:nvSpPr>
        <p:spPr>
          <a:xfrm>
            <a:off x="9611905" y="5040000"/>
            <a:ext cx="1799982" cy="360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950" b="1">
                <a:solidFill>
                  <a:srgbClr val="242424"/>
                </a:solidFill>
                <a:latin typeface="Liberation Sans"/>
              </a:rPr>
              <a:t>Incidencias y tiempo de resolución</a:t>
            </a:r>
            <a:endParaRPr lang="es-PE" sz="950"/>
          </a:p>
        </p:txBody>
      </p:sp>
      <p:sp>
        <p:nvSpPr>
          <p:cNvPr id="35" name="Objeto editable 35"/>
          <p:cNvSpPr txBox="1"/>
          <p:nvPr/>
        </p:nvSpPr>
        <p:spPr>
          <a:xfrm>
            <a:off x="575994" y="6588000"/>
            <a:ext cx="10439897" cy="126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850" i="1">
                <a:solidFill>
                  <a:srgbClr val="6D6A64"/>
                </a:solidFill>
                <a:latin typeface="Liberation Sans"/>
              </a:rPr>
              <a:t>No se proyectan porcentajes de mejora antes de contar con una línea base y datos del piloto.</a:t>
            </a:r>
            <a:endParaRPr lang="es-PE" sz="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>
              <a:alpha val="100000"/>
            </a:srgbClr>
          </a:solidFill>
          <a:ln w="6350">
            <a:solidFill>
              <a:srgbClr val="111111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FFFFFF"/>
                </a:solidFill>
                <a:latin typeface="Liberation Sans"/>
              </a:rPr>
              <a:t>15</a:t>
            </a:r>
            <a:endParaRPr lang="es-PE" sz="800"/>
          </a:p>
        </p:txBody>
      </p:sp>
      <p:pic>
        <p:nvPicPr>
          <p:cNvPr id="5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940" y="0"/>
            <a:ext cx="60720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bjeto editable 6"/>
          <p:cNvSpPr/>
          <p:nvPr/>
        </p:nvSpPr>
        <p:spPr>
          <a:xfrm>
            <a:off x="5651944" y="0"/>
            <a:ext cx="6540056" cy="6858000"/>
          </a:xfrm>
          <a:prstGeom prst="rect">
            <a:avLst/>
          </a:prstGeom>
          <a:solidFill>
            <a:srgbClr val="111111">
              <a:alpha val="65000"/>
            </a:srgbClr>
          </a:solidFill>
          <a:ln w="6350">
            <a:solidFill>
              <a:srgbClr val="111111"/>
            </a:solidFill>
          </a:ln>
        </p:spPr>
      </p:sp>
      <p:pic>
        <p:nvPicPr>
          <p:cNvPr id="7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" y="431800"/>
            <a:ext cx="59055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Objeto editable 8"/>
          <p:cNvSpPr txBox="1"/>
          <p:nvPr/>
        </p:nvSpPr>
        <p:spPr>
          <a:xfrm>
            <a:off x="575994" y="1440000"/>
            <a:ext cx="4931951" cy="82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C5A059"/>
                </a:solidFill>
                <a:latin typeface="Liberation Serif"/>
              </a:rPr>
              <a:t>DECISIÓN SOLICITADA</a:t>
            </a:r>
            <a:endParaRPr lang="es-PE" sz="2700"/>
          </a:p>
        </p:txBody>
      </p:sp>
      <p:sp>
        <p:nvSpPr>
          <p:cNvPr id="9" name="Objeto editable 9"/>
          <p:cNvSpPr/>
          <p:nvPr/>
        </p:nvSpPr>
        <p:spPr>
          <a:xfrm>
            <a:off x="611994" y="2592000"/>
            <a:ext cx="323997" cy="324000"/>
          </a:xfrm>
          <a:prstGeom prst="round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0" name="Objeto editable 10"/>
          <p:cNvSpPr txBox="1"/>
          <p:nvPr/>
        </p:nvSpPr>
        <p:spPr>
          <a:xfrm>
            <a:off x="611994" y="2628000"/>
            <a:ext cx="323997" cy="180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1300" b="1">
                <a:solidFill>
                  <a:srgbClr val="111111"/>
                </a:solidFill>
                <a:latin typeface="Liberation Sans"/>
              </a:rPr>
              <a:t>1</a:t>
            </a:r>
            <a:endParaRPr lang="es-PE" sz="1300"/>
          </a:p>
        </p:txBody>
      </p:sp>
      <p:sp>
        <p:nvSpPr>
          <p:cNvPr id="11" name="Objeto editable 11"/>
          <p:cNvSpPr txBox="1"/>
          <p:nvPr/>
        </p:nvSpPr>
        <p:spPr>
          <a:xfrm>
            <a:off x="1079989" y="2574000"/>
            <a:ext cx="4319957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1200" b="1">
                <a:solidFill>
                  <a:srgbClr val="FFFFFF"/>
                </a:solidFill>
                <a:latin typeface="Liberation Sans"/>
              </a:rPr>
              <a:t>Aprobar un piloto sin reemplazar todavía el sitio vigente</a:t>
            </a:r>
            <a:endParaRPr lang="es-PE" sz="1200"/>
          </a:p>
        </p:txBody>
      </p:sp>
      <p:sp>
        <p:nvSpPr>
          <p:cNvPr id="12" name="Objeto editable 12"/>
          <p:cNvSpPr/>
          <p:nvPr/>
        </p:nvSpPr>
        <p:spPr>
          <a:xfrm>
            <a:off x="611994" y="3312000"/>
            <a:ext cx="323997" cy="324000"/>
          </a:xfrm>
          <a:prstGeom prst="round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3" name="Objeto editable 13"/>
          <p:cNvSpPr txBox="1"/>
          <p:nvPr/>
        </p:nvSpPr>
        <p:spPr>
          <a:xfrm>
            <a:off x="611994" y="3348000"/>
            <a:ext cx="323997" cy="180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1300" b="1">
                <a:solidFill>
                  <a:srgbClr val="111111"/>
                </a:solidFill>
                <a:latin typeface="Liberation Sans"/>
              </a:rPr>
              <a:t>2</a:t>
            </a:r>
            <a:endParaRPr lang="es-PE" sz="1300"/>
          </a:p>
        </p:txBody>
      </p:sp>
      <p:sp>
        <p:nvSpPr>
          <p:cNvPr id="14" name="Objeto editable 14"/>
          <p:cNvSpPr txBox="1"/>
          <p:nvPr/>
        </p:nvSpPr>
        <p:spPr>
          <a:xfrm>
            <a:off x="1079989" y="3294000"/>
            <a:ext cx="4319957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1200" b="1">
                <a:solidFill>
                  <a:srgbClr val="FFFFFF"/>
                </a:solidFill>
                <a:latin typeface="Liberation Sans"/>
              </a:rPr>
              <a:t>Nombrar un responsable pastoral y uno técnico</a:t>
            </a:r>
            <a:endParaRPr lang="es-PE" sz="1200"/>
          </a:p>
        </p:txBody>
      </p:sp>
      <p:sp>
        <p:nvSpPr>
          <p:cNvPr id="15" name="Objeto editable 15"/>
          <p:cNvSpPr/>
          <p:nvPr/>
        </p:nvSpPr>
        <p:spPr>
          <a:xfrm>
            <a:off x="611994" y="4032000"/>
            <a:ext cx="323997" cy="324000"/>
          </a:xfrm>
          <a:prstGeom prst="round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6" name="Objeto editable 16"/>
          <p:cNvSpPr txBox="1"/>
          <p:nvPr/>
        </p:nvSpPr>
        <p:spPr>
          <a:xfrm>
            <a:off x="611994" y="4068000"/>
            <a:ext cx="323997" cy="180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1300" b="1">
                <a:solidFill>
                  <a:srgbClr val="111111"/>
                </a:solidFill>
                <a:latin typeface="Liberation Sans"/>
              </a:rPr>
              <a:t>3</a:t>
            </a:r>
            <a:endParaRPr lang="es-PE" sz="1300"/>
          </a:p>
        </p:txBody>
      </p:sp>
      <p:sp>
        <p:nvSpPr>
          <p:cNvPr id="17" name="Objeto editable 17"/>
          <p:cNvSpPr txBox="1"/>
          <p:nvPr/>
        </p:nvSpPr>
        <p:spPr>
          <a:xfrm>
            <a:off x="1079989" y="4014000"/>
            <a:ext cx="4319957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1200" b="1">
                <a:solidFill>
                  <a:srgbClr val="FFFFFF"/>
                </a:solidFill>
                <a:latin typeface="Liberation Sans"/>
              </a:rPr>
              <a:t>Seleccionar Los Ángeles y dos iglesias participantes</a:t>
            </a:r>
            <a:endParaRPr lang="es-PE" sz="1200"/>
          </a:p>
        </p:txBody>
      </p:sp>
      <p:sp>
        <p:nvSpPr>
          <p:cNvPr id="18" name="Objeto editable 18"/>
          <p:cNvSpPr/>
          <p:nvPr/>
        </p:nvSpPr>
        <p:spPr>
          <a:xfrm>
            <a:off x="611994" y="4752000"/>
            <a:ext cx="323997" cy="324000"/>
          </a:xfrm>
          <a:prstGeom prst="roundRect">
            <a:avLst/>
          </a:prstGeom>
          <a:solidFill>
            <a:srgbClr val="C5A059">
              <a:alpha val="100000"/>
            </a:srgbClr>
          </a:solidFill>
          <a:ln w="6350">
            <a:solidFill>
              <a:srgbClr val="C5A059"/>
            </a:solidFill>
          </a:ln>
        </p:spPr>
      </p:sp>
      <p:sp>
        <p:nvSpPr>
          <p:cNvPr id="19" name="Objeto editable 19"/>
          <p:cNvSpPr txBox="1"/>
          <p:nvPr/>
        </p:nvSpPr>
        <p:spPr>
          <a:xfrm>
            <a:off x="611994" y="4788000"/>
            <a:ext cx="323997" cy="180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1300" b="1">
                <a:solidFill>
                  <a:srgbClr val="111111"/>
                </a:solidFill>
                <a:latin typeface="Liberation Sans"/>
              </a:rPr>
              <a:t>4</a:t>
            </a:r>
            <a:endParaRPr lang="es-PE" sz="1300"/>
          </a:p>
        </p:txBody>
      </p:sp>
      <p:sp>
        <p:nvSpPr>
          <p:cNvPr id="20" name="Objeto editable 20"/>
          <p:cNvSpPr txBox="1"/>
          <p:nvPr/>
        </p:nvSpPr>
        <p:spPr>
          <a:xfrm>
            <a:off x="1079989" y="4734000"/>
            <a:ext cx="4319957" cy="378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s-PE" sz="1200" b="1">
                <a:solidFill>
                  <a:srgbClr val="FFFFFF"/>
                </a:solidFill>
                <a:latin typeface="Liberation Sans"/>
              </a:rPr>
              <a:t>Validar contenido, permisos y criterios de éxito</a:t>
            </a:r>
            <a:endParaRPr lang="es-PE" sz="1200"/>
          </a:p>
        </p:txBody>
      </p:sp>
      <p:sp>
        <p:nvSpPr>
          <p:cNvPr id="21" name="Objeto editable 21"/>
          <p:cNvSpPr txBox="1"/>
          <p:nvPr/>
        </p:nvSpPr>
        <p:spPr>
          <a:xfrm>
            <a:off x="6479936" y="5148000"/>
            <a:ext cx="4931951" cy="68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es-PE" sz="1800" b="1">
                <a:solidFill>
                  <a:srgbClr val="FFFFFF"/>
                </a:solidFill>
                <a:latin typeface="Liberation Serif"/>
              </a:rPr>
              <a:t>La tecnología es el medio.</a:t>
            </a:r>
            <a:endParaRPr lang="es-PE" sz="1800"/>
          </a:p>
          <a:p>
            <a:pPr algn="ctr"/>
            <a:r>
              <a:rPr lang="es-PE" sz="1800" b="1">
                <a:solidFill>
                  <a:srgbClr val="FFFFFF"/>
                </a:solidFill>
                <a:latin typeface="Liberation Serif"/>
              </a:rPr>
              <a:t>El objetivo es formar, conectar y servir mejor.</a:t>
            </a:r>
            <a:endParaRPr lang="es-PE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to editab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6350">
            <a:solidFill>
              <a:srgbClr val="FFFFFF"/>
            </a:solidFill>
          </a:ln>
        </p:spPr>
      </p:sp>
      <p:pic>
        <p:nvPicPr>
          <p:cNvPr id="3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150" y="184150"/>
            <a:ext cx="336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bjeto editable 4"/>
          <p:cNvSpPr txBox="1"/>
          <p:nvPr/>
        </p:nvSpPr>
        <p:spPr>
          <a:xfrm>
            <a:off x="11724005" y="6606000"/>
            <a:ext cx="251998" cy="10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es-PE" sz="800" b="1">
                <a:solidFill>
                  <a:srgbClr val="6D6A64"/>
                </a:solidFill>
                <a:latin typeface="Liberation Sans"/>
              </a:rPr>
              <a:t>16</a:t>
            </a:r>
            <a:endParaRPr lang="es-PE" sz="800"/>
          </a:p>
        </p:txBody>
      </p:sp>
      <p:sp>
        <p:nvSpPr>
          <p:cNvPr id="5" name="Objeto editable 5"/>
          <p:cNvSpPr txBox="1"/>
          <p:nvPr/>
        </p:nvSpPr>
        <p:spPr>
          <a:xfrm>
            <a:off x="575994" y="306000"/>
            <a:ext cx="9719904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FUENTES</a:t>
            </a:r>
            <a:endParaRPr lang="es-PE" sz="1000"/>
          </a:p>
        </p:txBody>
      </p:sp>
      <p:sp>
        <p:nvSpPr>
          <p:cNvPr id="6" name="Objeto editable 6"/>
          <p:cNvSpPr txBox="1"/>
          <p:nvPr/>
        </p:nvSpPr>
        <p:spPr>
          <a:xfrm>
            <a:off x="575994" y="522000"/>
            <a:ext cx="10439897" cy="648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2700" b="1">
                <a:solidFill>
                  <a:srgbClr val="242424"/>
                </a:solidFill>
                <a:latin typeface="Liberation Serif"/>
              </a:rPr>
              <a:t>Base de la comparación y alcance de la propuesta</a:t>
            </a:r>
            <a:endParaRPr lang="es-PE" sz="2700"/>
          </a:p>
        </p:txBody>
      </p:sp>
      <p:sp>
        <p:nvSpPr>
          <p:cNvPr id="7" name="Objeto editable 7"/>
          <p:cNvSpPr/>
          <p:nvPr/>
        </p:nvSpPr>
        <p:spPr>
          <a:xfrm>
            <a:off x="575994" y="1224000"/>
            <a:ext cx="1223988" cy="360"/>
          </a:xfrm>
          <a:prstGeom prst="line">
            <a:avLst/>
          </a:prstGeom>
          <a:noFill/>
          <a:ln w="32400">
            <a:solidFill>
              <a:srgbClr val="C5A059"/>
            </a:solidFill>
          </a:ln>
        </p:spPr>
      </p:sp>
      <p:sp>
        <p:nvSpPr>
          <p:cNvPr id="8" name="Objeto editable 8"/>
          <p:cNvSpPr txBox="1"/>
          <p:nvPr/>
        </p:nvSpPr>
        <p:spPr>
          <a:xfrm>
            <a:off x="647994" y="1620000"/>
            <a:ext cx="2879972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SITIO ACTUAL — PORTADA</a:t>
            </a:r>
            <a:endParaRPr lang="es-PE" sz="1000"/>
          </a:p>
        </p:txBody>
      </p:sp>
      <p:sp>
        <p:nvSpPr>
          <p:cNvPr id="9" name="Objeto editable 9"/>
          <p:cNvSpPr txBox="1"/>
          <p:nvPr/>
        </p:nvSpPr>
        <p:spPr>
          <a:xfrm>
            <a:off x="3671964" y="1620000"/>
            <a:ext cx="7559926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>
                <a:solidFill>
                  <a:srgbClr val="242424"/>
                </a:solidFill>
                <a:latin typeface="Liberation Sans"/>
              </a:rPr>
              <a:t>https://www.ministerioselimlosangeles.net/</a:t>
            </a:r>
            <a:endParaRPr lang="es-PE" sz="1000"/>
          </a:p>
        </p:txBody>
      </p:sp>
      <p:sp>
        <p:nvSpPr>
          <p:cNvPr id="10" name="Objeto editable 10"/>
          <p:cNvSpPr/>
          <p:nvPr/>
        </p:nvSpPr>
        <p:spPr>
          <a:xfrm>
            <a:off x="647994" y="1962000"/>
            <a:ext cx="10583896" cy="360"/>
          </a:xfrm>
          <a:prstGeom prst="line">
            <a:avLst/>
          </a:prstGeom>
          <a:noFill/>
          <a:ln w="9000">
            <a:solidFill>
              <a:srgbClr val="E7D7AA"/>
            </a:solidFill>
          </a:ln>
        </p:spPr>
      </p:sp>
      <p:sp>
        <p:nvSpPr>
          <p:cNvPr id="11" name="Objeto editable 11"/>
          <p:cNvSpPr txBox="1"/>
          <p:nvPr/>
        </p:nvSpPr>
        <p:spPr>
          <a:xfrm>
            <a:off x="647994" y="2250000"/>
            <a:ext cx="2879972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QUIÉNES SOMOS</a:t>
            </a:r>
            <a:endParaRPr lang="es-PE" sz="1000"/>
          </a:p>
        </p:txBody>
      </p:sp>
      <p:sp>
        <p:nvSpPr>
          <p:cNvPr id="12" name="Objeto editable 12"/>
          <p:cNvSpPr txBox="1"/>
          <p:nvPr/>
        </p:nvSpPr>
        <p:spPr>
          <a:xfrm>
            <a:off x="3671964" y="2250000"/>
            <a:ext cx="7559926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>
                <a:solidFill>
                  <a:srgbClr val="242424"/>
                </a:solidFill>
                <a:latin typeface="Liberation Sans"/>
              </a:rPr>
              <a:t>https://www.ministerioselimlosangeles.net/quienes-somos</a:t>
            </a:r>
            <a:endParaRPr lang="es-PE" sz="1000"/>
          </a:p>
        </p:txBody>
      </p:sp>
      <p:sp>
        <p:nvSpPr>
          <p:cNvPr id="13" name="Objeto editable 13"/>
          <p:cNvSpPr/>
          <p:nvPr/>
        </p:nvSpPr>
        <p:spPr>
          <a:xfrm>
            <a:off x="647994" y="2592000"/>
            <a:ext cx="10583896" cy="360"/>
          </a:xfrm>
          <a:prstGeom prst="line">
            <a:avLst/>
          </a:prstGeom>
          <a:noFill/>
          <a:ln w="9000">
            <a:solidFill>
              <a:srgbClr val="E7D7AA"/>
            </a:solidFill>
          </a:ln>
        </p:spPr>
      </p:sp>
      <p:sp>
        <p:nvSpPr>
          <p:cNvPr id="14" name="Objeto editable 14"/>
          <p:cNvSpPr txBox="1"/>
          <p:nvPr/>
        </p:nvSpPr>
        <p:spPr>
          <a:xfrm>
            <a:off x="647994" y="2880000"/>
            <a:ext cx="2879972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PREDICACIONES</a:t>
            </a:r>
            <a:endParaRPr lang="es-PE" sz="1000"/>
          </a:p>
        </p:txBody>
      </p:sp>
      <p:sp>
        <p:nvSpPr>
          <p:cNvPr id="15" name="Objeto editable 15"/>
          <p:cNvSpPr txBox="1"/>
          <p:nvPr/>
        </p:nvSpPr>
        <p:spPr>
          <a:xfrm>
            <a:off x="3671964" y="2880000"/>
            <a:ext cx="7559926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>
                <a:solidFill>
                  <a:srgbClr val="242424"/>
                </a:solidFill>
                <a:latin typeface="Liberation Sans"/>
              </a:rPr>
              <a:t>https://www.ministerioselimlosangeles.net/predicas</a:t>
            </a:r>
            <a:endParaRPr lang="es-PE" sz="1000"/>
          </a:p>
        </p:txBody>
      </p:sp>
      <p:sp>
        <p:nvSpPr>
          <p:cNvPr id="16" name="Objeto editable 16"/>
          <p:cNvSpPr/>
          <p:nvPr/>
        </p:nvSpPr>
        <p:spPr>
          <a:xfrm>
            <a:off x="647994" y="3222000"/>
            <a:ext cx="10583896" cy="360"/>
          </a:xfrm>
          <a:prstGeom prst="line">
            <a:avLst/>
          </a:prstGeom>
          <a:noFill/>
          <a:ln w="9000">
            <a:solidFill>
              <a:srgbClr val="E7D7AA"/>
            </a:solidFill>
          </a:ln>
        </p:spPr>
      </p:sp>
      <p:sp>
        <p:nvSpPr>
          <p:cNvPr id="17" name="Objeto editable 17"/>
          <p:cNvSpPr txBox="1"/>
          <p:nvPr/>
        </p:nvSpPr>
        <p:spPr>
          <a:xfrm>
            <a:off x="647994" y="3510000"/>
            <a:ext cx="2879972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IGLESIAS BAJO COBERTURA</a:t>
            </a:r>
            <a:endParaRPr lang="es-PE" sz="1000"/>
          </a:p>
        </p:txBody>
      </p:sp>
      <p:sp>
        <p:nvSpPr>
          <p:cNvPr id="18" name="Objeto editable 18"/>
          <p:cNvSpPr txBox="1"/>
          <p:nvPr/>
        </p:nvSpPr>
        <p:spPr>
          <a:xfrm>
            <a:off x="3671964" y="3510000"/>
            <a:ext cx="7559926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>
                <a:solidFill>
                  <a:srgbClr val="242424"/>
                </a:solidFill>
                <a:latin typeface="Liberation Sans"/>
              </a:rPr>
              <a:t>https://www.ministerioselimlosangeles.net/iglesias-bajo-cobertura</a:t>
            </a:r>
            <a:endParaRPr lang="es-PE" sz="1000"/>
          </a:p>
        </p:txBody>
      </p:sp>
      <p:sp>
        <p:nvSpPr>
          <p:cNvPr id="19" name="Objeto editable 19"/>
          <p:cNvSpPr/>
          <p:nvPr/>
        </p:nvSpPr>
        <p:spPr>
          <a:xfrm>
            <a:off x="647994" y="3852000"/>
            <a:ext cx="10583896" cy="360"/>
          </a:xfrm>
          <a:prstGeom prst="line">
            <a:avLst/>
          </a:prstGeom>
          <a:noFill/>
          <a:ln w="9000">
            <a:solidFill>
              <a:srgbClr val="E7D7AA"/>
            </a:solidFill>
          </a:ln>
        </p:spPr>
      </p:sp>
      <p:sp>
        <p:nvSpPr>
          <p:cNvPr id="20" name="Objeto editable 20"/>
          <p:cNvSpPr txBox="1"/>
          <p:nvPr/>
        </p:nvSpPr>
        <p:spPr>
          <a:xfrm>
            <a:off x="647994" y="4140000"/>
            <a:ext cx="2879972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C5A059"/>
                </a:solidFill>
                <a:latin typeface="Liberation Sans"/>
              </a:rPr>
              <a:t>CONTACTO Y HORARIOS</a:t>
            </a:r>
            <a:endParaRPr lang="es-PE" sz="1000"/>
          </a:p>
        </p:txBody>
      </p:sp>
      <p:sp>
        <p:nvSpPr>
          <p:cNvPr id="21" name="Objeto editable 21"/>
          <p:cNvSpPr txBox="1"/>
          <p:nvPr/>
        </p:nvSpPr>
        <p:spPr>
          <a:xfrm>
            <a:off x="3671964" y="4140000"/>
            <a:ext cx="7559926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>
                <a:solidFill>
                  <a:srgbClr val="242424"/>
                </a:solidFill>
                <a:latin typeface="Liberation Sans"/>
              </a:rPr>
              <a:t>https://www.ministerioselimlosangeles.net/contact-us</a:t>
            </a:r>
            <a:endParaRPr lang="es-PE" sz="1000"/>
          </a:p>
        </p:txBody>
      </p:sp>
      <p:sp>
        <p:nvSpPr>
          <p:cNvPr id="22" name="Objeto editable 22"/>
          <p:cNvSpPr/>
          <p:nvPr/>
        </p:nvSpPr>
        <p:spPr>
          <a:xfrm>
            <a:off x="647994" y="4482000"/>
            <a:ext cx="10583896" cy="360"/>
          </a:xfrm>
          <a:prstGeom prst="line">
            <a:avLst/>
          </a:prstGeom>
          <a:noFill/>
          <a:ln w="9000">
            <a:solidFill>
              <a:srgbClr val="E7D7AA"/>
            </a:solidFill>
          </a:ln>
        </p:spPr>
      </p:sp>
      <p:sp>
        <p:nvSpPr>
          <p:cNvPr id="23" name="Objeto editable 23"/>
          <p:cNvSpPr txBox="1"/>
          <p:nvPr/>
        </p:nvSpPr>
        <p:spPr>
          <a:xfrm>
            <a:off x="647994" y="4770000"/>
            <a:ext cx="2879972" cy="180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 b="1">
                <a:solidFill>
                  <a:srgbClr val="87C45B"/>
                </a:solidFill>
                <a:latin typeface="Liberation Sans"/>
              </a:rPr>
              <a:t>PROTOTIPO</a:t>
            </a:r>
            <a:endParaRPr lang="es-PE" sz="1000"/>
          </a:p>
        </p:txBody>
      </p:sp>
      <p:sp>
        <p:nvSpPr>
          <p:cNvPr id="24" name="Objeto editable 24"/>
          <p:cNvSpPr txBox="1"/>
          <p:nvPr/>
        </p:nvSpPr>
        <p:spPr>
          <a:xfrm>
            <a:off x="3671964" y="4770000"/>
            <a:ext cx="7559926" cy="234000"/>
          </a:xfr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PE" sz="1000">
                <a:solidFill>
                  <a:srgbClr val="242424"/>
                </a:solidFill>
                <a:latin typeface="Liberation Sans"/>
              </a:rPr>
              <a:t>Repositorio local ministerios-elim, revisión funcional del 14/10/2026</a:t>
            </a:r>
            <a:endParaRPr lang="es-PE" sz="1000"/>
          </a:p>
        </p:txBody>
      </p:sp>
      <p:sp>
        <p:nvSpPr>
          <p:cNvPr id="25" name="Objeto editable 25"/>
          <p:cNvSpPr/>
          <p:nvPr/>
        </p:nvSpPr>
        <p:spPr>
          <a:xfrm>
            <a:off x="647994" y="5112000"/>
            <a:ext cx="10583896" cy="360"/>
          </a:xfrm>
          <a:prstGeom prst="line">
            <a:avLst/>
          </a:prstGeom>
          <a:noFill/>
          <a:ln w="9000">
            <a:solidFill>
              <a:srgbClr val="E7D7AA"/>
            </a:solidFill>
          </a:ln>
        </p:spPr>
      </p:sp>
      <p:sp>
        <p:nvSpPr>
          <p:cNvPr id="26" name="Objeto editable 26"/>
          <p:cNvSpPr/>
          <p:nvPr/>
        </p:nvSpPr>
        <p:spPr>
          <a:xfrm>
            <a:off x="647994" y="5652000"/>
            <a:ext cx="10583896" cy="540000"/>
          </a:xfrm>
          <a:prstGeom prst="roundRect">
            <a:avLst/>
          </a:prstGeom>
          <a:solidFill>
            <a:srgbClr val="F2EAD5">
              <a:alpha val="100000"/>
            </a:srgbClr>
          </a:solidFill>
          <a:ln w="6350">
            <a:solidFill>
              <a:srgbClr val="E7D7AA"/>
            </a:solidFill>
          </a:ln>
        </p:spPr>
      </p:sp>
      <p:sp>
        <p:nvSpPr>
          <p:cNvPr id="27" name="Objeto editable 27"/>
          <p:cNvSpPr txBox="1"/>
          <p:nvPr/>
        </p:nvSpPr>
        <p:spPr>
          <a:xfrm>
            <a:off x="863991" y="5767200"/>
            <a:ext cx="10151900" cy="270000"/>
          </a:xfr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s-PE" sz="950" b="1">
                <a:solidFill>
                  <a:srgbClr val="6D6A64"/>
                </a:solidFill>
                <a:latin typeface="Liberation Sans"/>
              </a:rPr>
              <a:t>Revisión pública puntual. Las funciones privadas del sitio actual no se evaluaron. El prototipo usa datos e imágenes demo.</a:t>
            </a:r>
            <a:endParaRPr lang="es-PE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sterios Elim">
  <a:themeElements>
    <a:clrScheme name="Elim">
      <a:dk1>
        <a:srgbClr val="111111"/>
      </a:dk1>
      <a:lt1>
        <a:srgbClr val="FFFFFF"/>
      </a:lt1>
      <a:dk2>
        <a:srgbClr val="242424"/>
      </a:dk2>
      <a:lt2>
        <a:srgbClr val="F7F3EA"/>
      </a:lt2>
      <a:accent1>
        <a:srgbClr val="C5A059"/>
      </a:accent1>
      <a:accent2>
        <a:srgbClr val="87C45B"/>
      </a:accent2>
      <a:accent3>
        <a:srgbClr val="36BBD3"/>
      </a:accent3>
      <a:accent4>
        <a:srgbClr val="A94A43"/>
      </a:accent4>
      <a:accent5>
        <a:srgbClr val="7B5EA7"/>
      </a:accent5>
      <a:accent6>
        <a:srgbClr val="3F6D78"/>
      </a:accent6>
      <a:hlink>
        <a:srgbClr val="0563C1"/>
      </a:hlink>
      <a:folHlink>
        <a:srgbClr val="954F72"/>
      </a:folHlink>
    </a:clrScheme>
    <a:fontScheme name="Elim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Elim">
      <a:fillStyleLst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Ministerios Elim</Application>
  <PresentationFormat>Widescreen</PresentationFormat>
  <Slides>16</Slides>
  <Notes>0</Notes>
  <HiddenSlides>0</HiddenSlides>
  <Company>Ministerios Elim</Company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Ministerios Elim — Propuesta de plataforma digital</dc:title>
  <dc:subject>Presentación para el liderazgo</dc:subject>
  <dc:creator>Ministerios Elim</dc:creator>
  <cp:lastModifiedBy>Ministerios Elim</cp:lastModifiedBy>
  <dcterms:created xsi:type="dcterms:W3CDTF">2026-10-14T19:49:47Z</dcterms:created>
  <dcterms:modified xsi:type="dcterms:W3CDTF">2026-10-14T19:49:47Z</dcterms:modified>
</cp:coreProperties>
</file>